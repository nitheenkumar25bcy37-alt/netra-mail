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405422-397E-4829-873B-7CA9D105D504}" v="9" dt="2026-09-16T13:06:12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een j" userId="2d2e95566273fa1a" providerId="LiveId" clId="{3B1FB7C6-C945-476A-883E-523C0FE6ED29}"/>
    <pc:docChg chg="undo custSel modSld">
      <pc:chgData name="nitheen j" userId="2d2e95566273fa1a" providerId="LiveId" clId="{3B1FB7C6-C945-476A-883E-523C0FE6ED29}" dt="2026-09-16T13:06:12.552" v="230"/>
      <pc:docMkLst>
        <pc:docMk/>
      </pc:docMkLst>
      <pc:sldChg chg="addSp modSp mod">
        <pc:chgData name="nitheen j" userId="2d2e95566273fa1a" providerId="LiveId" clId="{3B1FB7C6-C945-476A-883E-523C0FE6ED29}" dt="2026-09-16T13:05:56.484" v="226"/>
        <pc:sldMkLst>
          <pc:docMk/>
          <pc:sldMk cId="0" sldId="281"/>
        </pc:sldMkLst>
        <pc:spChg chg="mod">
          <ac:chgData name="nitheen j" userId="2d2e95566273fa1a" providerId="LiveId" clId="{3B1FB7C6-C945-476A-883E-523C0FE6ED29}" dt="2026-09-15T14:22:28.769" v="51" actId="20577"/>
          <ac:spMkLst>
            <pc:docMk/>
            <pc:sldMk cId="0" sldId="281"/>
            <ac:spMk id="7" creationId="{00000000-0000-0000-0000-000000000000}"/>
          </ac:spMkLst>
        </pc:spChg>
        <pc:spChg chg="mod">
          <ac:chgData name="nitheen j" userId="2d2e95566273fa1a" providerId="LiveId" clId="{3B1FB7C6-C945-476A-883E-523C0FE6ED29}" dt="2026-09-16T13:05:56.484" v="226"/>
          <ac:spMkLst>
            <pc:docMk/>
            <pc:sldMk cId="0" sldId="281"/>
            <ac:spMk id="10" creationId="{5DBCE864-823D-4A13-9607-5DA1F0ED5FB8}"/>
          </ac:spMkLst>
        </pc:spChg>
        <pc:picChg chg="add mod">
          <ac:chgData name="nitheen j" userId="2d2e95566273fa1a" providerId="LiveId" clId="{3B1FB7C6-C945-476A-883E-523C0FE6ED29}" dt="2026-09-15T14:31:42.780" v="128" actId="1076"/>
          <ac:picMkLst>
            <pc:docMk/>
            <pc:sldMk cId="0" sldId="281"/>
            <ac:picMk id="3" creationId="{7F452879-4C12-BD48-FB7F-ACC3D9D706F1}"/>
          </ac:picMkLst>
        </pc:picChg>
      </pc:sldChg>
      <pc:sldChg chg="modSp mod">
        <pc:chgData name="nitheen j" userId="2d2e95566273fa1a" providerId="LiveId" clId="{3B1FB7C6-C945-476A-883E-523C0FE6ED29}" dt="2026-09-16T13:05:59.846" v="227"/>
        <pc:sldMkLst>
          <pc:docMk/>
          <pc:sldMk cId="0" sldId="290"/>
        </pc:sldMkLst>
        <pc:spChg chg="mod">
          <ac:chgData name="nitheen j" userId="2d2e95566273fa1a" providerId="LiveId" clId="{3B1FB7C6-C945-476A-883E-523C0FE6ED29}" dt="2026-09-15T14:22:40.072" v="53" actId="20577"/>
          <ac:spMkLst>
            <pc:docMk/>
            <pc:sldMk cId="0" sldId="290"/>
            <ac:spMk id="7" creationId="{00000000-0000-0000-0000-000000000000}"/>
          </ac:spMkLst>
        </pc:spChg>
        <pc:spChg chg="mod">
          <ac:chgData name="nitheen j" userId="2d2e95566273fa1a" providerId="LiveId" clId="{3B1FB7C6-C945-476A-883E-523C0FE6ED29}" dt="2026-09-16T13:05:59.846" v="227"/>
          <ac:spMkLst>
            <pc:docMk/>
            <pc:sldMk cId="0" sldId="290"/>
            <ac:spMk id="11" creationId="{5DBCE864-823D-4A13-9607-5DA1F0ED5FB8}"/>
          </ac:spMkLst>
        </pc:spChg>
        <pc:picChg chg="mod">
          <ac:chgData name="nitheen j" userId="2d2e95566273fa1a" providerId="LiveId" clId="{3B1FB7C6-C945-476A-883E-523C0FE6ED29}" dt="2026-09-15T16:45:29.948" v="198" actId="1036"/>
          <ac:picMkLst>
            <pc:docMk/>
            <pc:sldMk cId="0" sldId="290"/>
            <ac:picMk id="40" creationId="{00000000-0000-0000-0000-000000000000}"/>
          </ac:picMkLst>
        </pc:picChg>
      </pc:sldChg>
      <pc:sldChg chg="addSp modSp mod">
        <pc:chgData name="nitheen j" userId="2d2e95566273fa1a" providerId="LiveId" clId="{3B1FB7C6-C945-476A-883E-523C0FE6ED29}" dt="2026-09-16T13:05:31.016" v="225" actId="20577"/>
        <pc:sldMkLst>
          <pc:docMk/>
          <pc:sldMk cId="0" sldId="291"/>
        </pc:sldMkLst>
        <pc:spChg chg="mod">
          <ac:chgData name="nitheen j" userId="2d2e95566273fa1a" providerId="LiveId" clId="{3B1FB7C6-C945-476A-883E-523C0FE6ED29}" dt="2026-09-15T14:28:14.347" v="100" actId="20577"/>
          <ac:spMkLst>
            <pc:docMk/>
            <pc:sldMk cId="0" sldId="291"/>
            <ac:spMk id="3" creationId="{00000000-0000-0000-0000-000000000000}"/>
          </ac:spMkLst>
        </pc:spChg>
        <pc:spChg chg="mod">
          <ac:chgData name="nitheen j" userId="2d2e95566273fa1a" providerId="LiveId" clId="{3B1FB7C6-C945-476A-883E-523C0FE6ED29}" dt="2026-09-16T13:05:14.331" v="216" actId="14100"/>
          <ac:spMkLst>
            <pc:docMk/>
            <pc:sldMk cId="0" sldId="291"/>
            <ac:spMk id="4" creationId="{00000000-0000-0000-0000-000000000000}"/>
          </ac:spMkLst>
        </pc:spChg>
        <pc:spChg chg="mod">
          <ac:chgData name="nitheen j" userId="2d2e95566273fa1a" providerId="LiveId" clId="{3B1FB7C6-C945-476A-883E-523C0FE6ED29}" dt="2026-09-16T13:05:31.016" v="225" actId="20577"/>
          <ac:spMkLst>
            <pc:docMk/>
            <pc:sldMk cId="0" sldId="291"/>
            <ac:spMk id="7" creationId="{00000000-0000-0000-0000-000000000000}"/>
          </ac:spMkLst>
        </pc:spChg>
        <pc:picChg chg="add mod modCrop">
          <ac:chgData name="nitheen j" userId="2d2e95566273fa1a" providerId="LiveId" clId="{3B1FB7C6-C945-476A-883E-523C0FE6ED29}" dt="2026-09-15T17:32:06.044" v="214" actId="14100"/>
          <ac:picMkLst>
            <pc:docMk/>
            <pc:sldMk cId="0" sldId="291"/>
            <ac:picMk id="20" creationId="{367C4384-5DE6-BAF5-A636-F451951B7CE3}"/>
          </ac:picMkLst>
        </pc:picChg>
      </pc:sldChg>
      <pc:sldChg chg="modSp mod">
        <pc:chgData name="nitheen j" userId="2d2e95566273fa1a" providerId="LiveId" clId="{3B1FB7C6-C945-476A-883E-523C0FE6ED29}" dt="2026-09-16T13:06:04.887" v="228"/>
        <pc:sldMkLst>
          <pc:docMk/>
          <pc:sldMk cId="3753387913" sldId="293"/>
        </pc:sldMkLst>
        <pc:spChg chg="mod">
          <ac:chgData name="nitheen j" userId="2d2e95566273fa1a" providerId="LiveId" clId="{3B1FB7C6-C945-476A-883E-523C0FE6ED29}" dt="2026-09-15T14:22:45.155" v="54"/>
          <ac:spMkLst>
            <pc:docMk/>
            <pc:sldMk cId="3753387913" sldId="293"/>
            <ac:spMk id="7" creationId="{00000000-0000-0000-0000-000000000000}"/>
          </ac:spMkLst>
        </pc:spChg>
        <pc:spChg chg="mod">
          <ac:chgData name="nitheen j" userId="2d2e95566273fa1a" providerId="LiveId" clId="{3B1FB7C6-C945-476A-883E-523C0FE6ED29}" dt="2026-09-16T13:06:04.887" v="228"/>
          <ac:spMkLst>
            <pc:docMk/>
            <pc:sldMk cId="3753387913" sldId="293"/>
            <ac:spMk id="12" creationId="{5DBCE864-823D-4A13-9607-5DA1F0ED5FB8}"/>
          </ac:spMkLst>
        </pc:spChg>
      </pc:sldChg>
      <pc:sldChg chg="addSp delSp modSp mod modNotesTx">
        <pc:chgData name="nitheen j" userId="2d2e95566273fa1a" providerId="LiveId" clId="{3B1FB7C6-C945-476A-883E-523C0FE6ED29}" dt="2026-09-16T13:06:08.602" v="229"/>
        <pc:sldMkLst>
          <pc:docMk/>
          <pc:sldMk cId="2997144140" sldId="294"/>
        </pc:sldMkLst>
        <pc:spChg chg="mod">
          <ac:chgData name="nitheen j" userId="2d2e95566273fa1a" providerId="LiveId" clId="{3B1FB7C6-C945-476A-883E-523C0FE6ED29}" dt="2026-09-15T14:22:54.920" v="73" actId="20577"/>
          <ac:spMkLst>
            <pc:docMk/>
            <pc:sldMk cId="2997144140" sldId="294"/>
            <ac:spMk id="7" creationId="{00000000-0000-0000-0000-000000000000}"/>
          </ac:spMkLst>
        </pc:spChg>
        <pc:spChg chg="add del mod">
          <ac:chgData name="nitheen j" userId="2d2e95566273fa1a" providerId="LiveId" clId="{3B1FB7C6-C945-476A-883E-523C0FE6ED29}" dt="2026-09-16T13:06:08.602" v="229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nitheen j" userId="2d2e95566273fa1a" providerId="LiveId" clId="{3B1FB7C6-C945-476A-883E-523C0FE6ED29}" dt="2026-09-15T14:22:56.870" v="74" actId="1036"/>
          <ac:spMkLst>
            <pc:docMk/>
            <pc:sldMk cId="2997144140" sldId="294"/>
            <ac:spMk id="47" creationId="{00000000-0000-0000-0000-000000000000}"/>
          </ac:spMkLst>
        </pc:spChg>
      </pc:sldChg>
      <pc:sldChg chg="modSp mod">
        <pc:chgData name="nitheen j" userId="2d2e95566273fa1a" providerId="LiveId" clId="{3B1FB7C6-C945-476A-883E-523C0FE6ED29}" dt="2026-09-16T13:06:12.552" v="230"/>
        <pc:sldMkLst>
          <pc:docMk/>
          <pc:sldMk cId="3916788613" sldId="296"/>
        </pc:sldMkLst>
        <pc:spChg chg="mod">
          <ac:chgData name="nitheen j" userId="2d2e95566273fa1a" providerId="LiveId" clId="{3B1FB7C6-C945-476A-883E-523C0FE6ED29}" dt="2026-09-15T14:24:17.323" v="93" actId="20577"/>
          <ac:spMkLst>
            <pc:docMk/>
            <pc:sldMk cId="3916788613" sldId="296"/>
            <ac:spMk id="7" creationId="{00000000-0000-0000-0000-000000000000}"/>
          </ac:spMkLst>
        </pc:spChg>
        <pc:spChg chg="mod">
          <ac:chgData name="nitheen j" userId="2d2e95566273fa1a" providerId="LiveId" clId="{3B1FB7C6-C945-476A-883E-523C0FE6ED29}" dt="2026-09-16T13:06:12.552" v="230"/>
          <ac:spMkLst>
            <pc:docMk/>
            <pc:sldMk cId="3916788613" sldId="296"/>
            <ac:spMk id="9" creationId="{5DBCE864-823D-4A13-9607-5DA1F0ED5F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official problem-statement title, theme, team ID and registered team name before submission. PS 26106 comes from the project documentation and requires portal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/>
          </a:p>
          <a:p>
            <a:r>
              <a:t>Detailed revision: multilingual analysis is heuristic contextual detection, not translation or a multilingual UI. Native script labels can be ambiguous for shared scripts. QR/OCR performance is separately provider/decoder dependent. External validation and production hardening remain required.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/>
          </a:p>
          <a:p>
            <a:r>
              <a:t>Detailed revision: multilingual analysis is heuristic contextual detection, not translation or a multilingual UI. Native script labels can be ambiguous for shared scripts. QR/OCR performance is separately provider/decoder dependent. External validation and production hardening remain required.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149 automated tests passed in the local project run recorded on 15 September 2026. This is a software regression count, not classification accuracy. Before a real institutional deployment, implement dashboard authentication, verify backups and test encrypted evidence retention. Provider-backed checks depend on configured external services.</a:t>
            </a:r>
          </a:p>
          <a:p>
            <a:r>
              <a:t>Detailed revision: multilingual analysis is heuristic contextual detection, not translation or a multilingual UI. Native script labels can be ambiguous for shared scripts. QR/OCR performance is separately provider/decoder dependent. External validation and production hardening remain required.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Reference links are clickable. RFC 7489 is cited as the DMARC basis used in this implementation; consult RFC Editor for subsequent updates. Layout inspiration: user-supplied 2025 Sarthi / Bit-Storm reference PDF. Content and diagrams describe NETRA-Mail. No independent phishing-accuracy or financial-impact claim is made.</a:t>
            </a:r>
          </a:p>
          <a:p>
            <a:r>
              <a:t>Detailed revision: multilingual analysis is heuristic contextual detection, not translation or a multilingual UI. Native script labels can be ambiguous for shared scripts. QR/OCR performance is separately provider/decoder dependent. External validation and production hardening remain required.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itheenkumar25bcy37-alt/NETRA-MAIL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csrc.nist.gov/pubs/sp/800/86/fina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fc-editor.org/info/rfc7489/" TargetMode="External"/><Relationship Id="rId5" Type="http://schemas.openxmlformats.org/officeDocument/2006/relationships/hyperlink" Target="https://www.rfc-editor.org/info/rfc7208/" TargetMode="External"/><Relationship Id="rId4" Type="http://schemas.openxmlformats.org/officeDocument/2006/relationships/hyperlink" Target="https://www.rfc-editor.org/info/rfc637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961120" cy="40011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006EB9"/>
                </a:solidFill>
                <a:latin typeface="Aptos"/>
              </a:defRPr>
            </a:pPr>
            <a:r>
              <a:rPr lang="en-US" dirty="0"/>
              <a:t>						</a:t>
            </a:r>
            <a:r>
              <a:rPr dirty="0"/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7927" y="1105138"/>
            <a:ext cx="6957392" cy="7386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4800" b="1">
                <a:solidFill>
                  <a:srgbClr val="143454"/>
                </a:solidFill>
                <a:latin typeface="Aptos"/>
              </a:defRPr>
            </a:pPr>
            <a:r>
              <a:rPr lang="en-US" dirty="0"/>
              <a:t>	</a:t>
            </a:r>
            <a:r>
              <a:rPr dirty="0"/>
              <a:t>NETRA-MAIL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057400"/>
            <a:ext cx="6675120" cy="77724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defRPr sz="2500">
                <a:solidFill>
                  <a:srgbClr val="233746"/>
                </a:solidFill>
                <a:latin typeface="Aptos"/>
              </a:defRPr>
            </a:pPr>
            <a:r>
              <a:rPr dirty="0"/>
              <a:t>Multilingual phishing intelligence.</a:t>
            </a:r>
          </a:p>
          <a:p>
            <a:pPr>
              <a:defRPr sz="2500">
                <a:solidFill>
                  <a:srgbClr val="233746"/>
                </a:solidFill>
                <a:latin typeface="Aptos"/>
              </a:defRPr>
            </a:pPr>
            <a:r>
              <a:rPr dirty="0"/>
              <a:t>Investigation-ready email forensics.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63240"/>
            <a:ext cx="6583680" cy="269748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3246120"/>
            <a:ext cx="6172200" cy="2280111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dirty="0"/>
              <a:t>Problem Statement ID: 26106 </a:t>
            </a:r>
          </a:p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dirty="0"/>
              <a:t>PS Title: </a:t>
            </a:r>
            <a:r>
              <a:rPr lang="en-IN" sz="1700" dirty="0">
                <a:solidFill>
                  <a:srgbClr val="26384B"/>
                </a:solidFill>
                <a:latin typeface="Aptos"/>
              </a:rPr>
              <a:t>AI-Powered Email Threat Detection, Geo Location and Forensic Intelligence Platform</a:t>
            </a:r>
            <a:endParaRPr lang="en-US" dirty="0"/>
          </a:p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dirty="0"/>
              <a:t>Theme: </a:t>
            </a:r>
            <a:r>
              <a:rPr lang="en-IN" sz="1700" dirty="0">
                <a:solidFill>
                  <a:srgbClr val="26384B"/>
                </a:solidFill>
                <a:latin typeface="Aptos"/>
              </a:rPr>
              <a:t>Blockchain &amp; Cybersecurity</a:t>
            </a:r>
          </a:p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dirty="0"/>
              <a:t>PS Category: Software</a:t>
            </a:r>
          </a:p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dirty="0"/>
              <a:t>Team ID: </a:t>
            </a:r>
          </a:p>
          <a:p>
            <a:pPr>
              <a:spcAft>
                <a:spcPts val="700"/>
              </a:spcAft>
              <a:defRPr sz="1700" b="0">
                <a:solidFill>
                  <a:srgbClr val="26384B"/>
                </a:solidFill>
                <a:latin typeface="Aptos"/>
              </a:defRPr>
            </a:pPr>
            <a:r>
              <a:rPr dirty="0"/>
              <a:t>Team Name:</a:t>
            </a:r>
            <a:r>
              <a:rPr lang="en-US" dirty="0"/>
              <a:t> TEAM NETRA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7452360" y="1463040"/>
            <a:ext cx="4206240" cy="1188720"/>
          </a:xfrm>
          <a:prstGeom prst="roundRect">
            <a:avLst>
              <a:gd name="adj" fmla="val 12000"/>
            </a:avLst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16952" y="1591056"/>
            <a:ext cx="3877055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965960"/>
            <a:ext cx="3877055" cy="6126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defRPr sz="1600">
                <a:solidFill>
                  <a:srgbClr val="233746"/>
                </a:solidFill>
                <a:latin typeface="Aptos"/>
              </a:defRPr>
            </a:pPr>
            <a:r>
              <a:t>Multilingual text, URLs, QR and attachments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880360"/>
            <a:ext cx="4206240" cy="1188720"/>
          </a:xfrm>
          <a:prstGeom prst="roundRect">
            <a:avLst>
              <a:gd name="adj" fmla="val 12000"/>
            </a:avLst>
          </a:prstGeom>
          <a:solidFill>
            <a:srgbClr val="EA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16952" y="3008376"/>
            <a:ext cx="3877055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383280"/>
            <a:ext cx="3877055" cy="6126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t>Message, URL and relay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4297680"/>
            <a:ext cx="4206240" cy="1188720"/>
          </a:xfrm>
          <a:prstGeom prst="roundRect">
            <a:avLst>
              <a:gd name="adj" fmla="val 12000"/>
            </a:avLst>
          </a:prstGeom>
          <a:solidFill>
            <a:srgbClr val="FFF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16952" y="4425696"/>
            <a:ext cx="3877055" cy="34747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3454"/>
                </a:solidFill>
                <a:latin typeface="Aptos"/>
              </a:defRPr>
            </a:pPr>
            <a:r>
              <a:t>PRESERVE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6952" y="4800600"/>
            <a:ext cx="3877055" cy="6126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6384B"/>
                </a:solidFill>
                <a:latin typeface="Aptos"/>
              </a:defRPr>
            </a:pPr>
            <a:r>
              <a:rPr dirty="0"/>
              <a:t>Case timeline and forensic 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080760"/>
            <a:ext cx="11338560" cy="438912"/>
          </a:xfrm>
          <a:prstGeom prst="rect">
            <a:avLst/>
          </a:prstGeom>
          <a:solidFill>
            <a:srgbClr val="14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6153912"/>
            <a:ext cx="11018520" cy="32004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6 language profiles  •  Explainable risk  •  Origin context  •  Tamper-evident forensic reporting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7C4384-5DE6-BAF5-A636-F451951B7C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534"/>
          <a:stretch>
            <a:fillRect/>
          </a:stretch>
        </p:blipFill>
        <p:spPr>
          <a:xfrm>
            <a:off x="1" y="-42956"/>
            <a:ext cx="2605698" cy="1940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@SIH2026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88799" y="159685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latin typeface="Aptos"/>
              </a:defRPr>
            </a:pPr>
            <a:r>
              <a:rPr lang="en-US" dirty="0"/>
              <a:t>TEAM NETRA</a:t>
            </a:r>
            <a:endParaRPr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310896"/>
            <a:ext cx="8092440" cy="6126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73958"/>
                </a:solidFill>
                <a:latin typeface="Aptos"/>
              </a:defRPr>
            </a:pPr>
            <a:r>
              <a:t>NETRA-MAIL | 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097280"/>
            <a:ext cx="5532120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Challenges and problems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408176"/>
            <a:ext cx="5532120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" y="1536192"/>
            <a:ext cx="5330952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Language barriers in phishing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1764792"/>
            <a:ext cx="5330952" cy="37490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Regional scripts, transliteration and mixed-language messages need contextual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" y="2130552"/>
            <a:ext cx="5330952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Deception across multiple email surfaces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2359152"/>
            <a:ext cx="5330952" cy="37490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Spoofed senders, credential links, payment requests and image-based lures obscure intent.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" y="2724912"/>
            <a:ext cx="5330952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Fragmented investigation and missing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2953512"/>
            <a:ext cx="5330952" cy="37490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A risk label alone does not explain relay paths, related indicators or evidence history.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401568"/>
            <a:ext cx="5532120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Proposed solution — detailed explanation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12464"/>
            <a:ext cx="5532120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2336" y="3831336"/>
            <a:ext cx="5321808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1. Multilingual phishing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4059936"/>
            <a:ext cx="5321808" cy="448055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Combine language/script cues with urgency, OTP, credential and financial-fraud indicators.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" y="4480560"/>
            <a:ext cx="5321808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2. Multi-layer email inspection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" y="4709160"/>
            <a:ext cx="5321808" cy="448055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Fuse text/ML findings, sender alignment, domain/URL checks, static attachments and QR/OCR signals.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" y="5129784"/>
            <a:ext cx="5321808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3. Investigation and evidence 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5358384"/>
            <a:ext cx="5321808" cy="448055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Open the exact email in the SOC dashboard; inspect findings, correlate cases and export reports.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1097280"/>
            <a:ext cx="5733288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rPr dirty="0"/>
              <a:t>Innovation and uniqueness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1408176"/>
            <a:ext cx="5733288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26480" y="1563624"/>
            <a:ext cx="2761488" cy="877824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45352" y="1655064"/>
            <a:ext cx="2523744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rPr dirty="0"/>
              <a:t>MULTILINGUAL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1956816"/>
            <a:ext cx="2523744" cy="420623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40" b="0">
                <a:solidFill>
                  <a:srgbClr val="233746"/>
                </a:solidFill>
                <a:latin typeface="Aptos"/>
              </a:defRPr>
            </a:pPr>
            <a:r>
              <a:t>English + 5 Indian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40" b="0">
                <a:solidFill>
                  <a:srgbClr val="233746"/>
                </a:solidFill>
                <a:latin typeface="Aptos"/>
              </a:defRPr>
            </a:pPr>
            <a:r>
              <a:t>language profiles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34272" y="1563624"/>
            <a:ext cx="2761488" cy="877824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53144" y="1655064"/>
            <a:ext cx="2523744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EXPLAINABLE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144" y="1956816"/>
            <a:ext cx="2523744" cy="420623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40" b="0">
                <a:solidFill>
                  <a:srgbClr val="233746"/>
                </a:solidFill>
                <a:latin typeface="Aptos"/>
              </a:defRPr>
            </a:pPr>
            <a:r>
              <a:rPr dirty="0"/>
              <a:t>Risk score + reasons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40" b="0">
                <a:solidFill>
                  <a:srgbClr val="233746"/>
                </a:solidFill>
                <a:latin typeface="Aptos"/>
              </a:defRPr>
            </a:pPr>
            <a:r>
              <a:rPr dirty="0"/>
              <a:t>+ evidence limits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2569464"/>
            <a:ext cx="2761488" cy="877824"/>
          </a:xfrm>
          <a:prstGeom prst="roundRect">
            <a:avLst>
              <a:gd name="adj" fmla="val 12000"/>
            </a:avLst>
          </a:prstGeom>
          <a:solidFill>
            <a:srgbClr val="EAF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45352" y="2660904"/>
            <a:ext cx="2523744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FORENSIC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2962656"/>
            <a:ext cx="2523744" cy="420623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40" b="0">
                <a:solidFill>
                  <a:srgbClr val="233746"/>
                </a:solidFill>
                <a:latin typeface="Aptos"/>
              </a:defRPr>
            </a:pPr>
            <a:r>
              <a:rPr dirty="0"/>
              <a:t>SHA-256 + custody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40" b="0">
                <a:solidFill>
                  <a:srgbClr val="233746"/>
                </a:solidFill>
                <a:latin typeface="Aptos"/>
              </a:defRPr>
            </a:pPr>
            <a:r>
              <a:rPr dirty="0"/>
              <a:t>+ encrypted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34272" y="2569464"/>
            <a:ext cx="2761488" cy="877824"/>
          </a:xfrm>
          <a:prstGeom prst="roundRect">
            <a:avLst>
              <a:gd name="adj" fmla="val 12000"/>
            </a:avLst>
          </a:prstGeom>
          <a:solidFill>
            <a:srgbClr val="EE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53144" y="2660904"/>
            <a:ext cx="2523744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rPr dirty="0"/>
              <a:t>CONNECTED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3144" y="2962656"/>
            <a:ext cx="2523744" cy="420623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40" b="0">
                <a:solidFill>
                  <a:srgbClr val="233746"/>
                </a:solidFill>
                <a:latin typeface="Aptos"/>
              </a:defRPr>
            </a:pPr>
            <a:r>
              <a:t>Gmail badge → exact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40" b="0">
                <a:solidFill>
                  <a:srgbClr val="233746"/>
                </a:solidFill>
                <a:latin typeface="Aptos"/>
              </a:defRPr>
            </a:pPr>
            <a:r>
              <a:t>SOC investigation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8192" y="3685032"/>
            <a:ext cx="5733288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How it addresses the problem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3995928"/>
            <a:ext cx="5733288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08776" y="4105656"/>
            <a:ext cx="5477256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rPr dirty="0"/>
              <a:t>Language-aware 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8776" y="4334256"/>
            <a:ext cx="5477256" cy="33832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Native scripts + Romanized cues; language is context, never a malicious verdict.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8776" y="4700016"/>
            <a:ext cx="5477256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From alert to evidence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08776" y="4928616"/>
            <a:ext cx="5477256" cy="33832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Relay/IP context and related indicators help analysts investigate recurring campaigns.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08776" y="5294376"/>
            <a:ext cx="5477256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Controlled and transparent analysis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8776" y="5522976"/>
            <a:ext cx="5477256" cy="33832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rPr dirty="0"/>
              <a:t>Manual scan, scoped access and explicit labels when original headers are unavailable.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" y="6053328"/>
            <a:ext cx="11384280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184"/>
                </a:solidFill>
                <a:latin typeface="Aptos"/>
              </a:defRPr>
            </a:pPr>
            <a:r>
              <a:t>Language profiles: English · Hindi · Tamil · Telugu · Kannada · Malayalam. Per-language accuracy remains to be measured.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52879-4C12-BD48-FB7F-ACC3D9D706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534"/>
          <a:stretch>
            <a:fillRect/>
          </a:stretch>
        </p:blipFill>
        <p:spPr>
          <a:xfrm>
            <a:off x="1800971" y="28770"/>
            <a:ext cx="1124430" cy="8373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@SIH2026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latin typeface="Aptos"/>
              </a:defRPr>
            </a:pPr>
            <a:r>
              <a:rPr lang="en-US" dirty="0"/>
              <a:t>TEAM NETRA</a:t>
            </a:r>
            <a:endParaRPr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310896"/>
            <a:ext cx="8092440" cy="6126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73958"/>
                </a:solidFill>
                <a:latin typeface="Aptos"/>
              </a:defRPr>
            </a:pPr>
            <a:r>
              <a:t>TECHNICAL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097280"/>
            <a:ext cx="5614416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Methodology and process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408176"/>
            <a:ext cx="5614416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" y="1536192"/>
            <a:ext cx="5422392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1">
                <a:solidFill>
                  <a:srgbClr val="173958"/>
                </a:solidFill>
                <a:latin typeface="Aptos"/>
              </a:defRPr>
            </a:pPr>
            <a:r>
              <a:t>01  Acquire &amp; authenticate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1746504"/>
            <a:ext cx="5422392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233746"/>
                </a:solidFill>
                <a:latin typeface="Aptos"/>
              </a:defRPr>
            </a:pPr>
            <a:r>
              <a:t>User selects Gmail content or submits EML; API checks identity, origin and request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" y="2057400"/>
            <a:ext cx="5422392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1">
                <a:solidFill>
                  <a:srgbClr val="173958"/>
                </a:solidFill>
                <a:latin typeface="Aptos"/>
              </a:defRPr>
            </a:pPr>
            <a:r>
              <a:t>02  Normalize &amp; 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2267712"/>
            <a:ext cx="5422392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233746"/>
                </a:solidFill>
                <a:latin typeface="Aptos"/>
              </a:defRPr>
            </a:pPr>
            <a:r>
              <a:t>Parse MIME, sender fields, relay headers, URLs and static attachments; mask sensitive fields.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2578608"/>
            <a:ext cx="5422392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1">
                <a:solidFill>
                  <a:srgbClr val="173958"/>
                </a:solidFill>
                <a:latin typeface="Aptos"/>
              </a:defRPr>
            </a:pPr>
            <a:r>
              <a:t>03  Analyze multilingual 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2788920"/>
            <a:ext cx="5422392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233746"/>
                </a:solidFill>
                <a:latin typeface="Aptos"/>
              </a:defRPr>
            </a:pPr>
            <a:r>
              <a:t>Detect script / Romanized cues; inspect urgency, credentials, financial fraud and mixed scripts.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3099815"/>
            <a:ext cx="5422392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1">
                <a:solidFill>
                  <a:srgbClr val="173958"/>
                </a:solidFill>
                <a:latin typeface="Aptos"/>
              </a:defRPr>
            </a:pPr>
            <a:r>
              <a:t>04  Fuse evidence &amp; 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3310127"/>
            <a:ext cx="5422392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233746"/>
                </a:solidFill>
                <a:latin typeface="Aptos"/>
              </a:defRPr>
            </a:pPr>
            <a:r>
              <a:t>Combine ML, rules, URL/domain checks and authentication evidence with confidence and limitations.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3621024"/>
            <a:ext cx="5422392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1">
                <a:solidFill>
                  <a:srgbClr val="173958"/>
                </a:solidFill>
                <a:latin typeface="Aptos"/>
              </a:defRPr>
            </a:pPr>
            <a:r>
              <a:t>05  Investigate &amp; preserve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" y="3831336"/>
            <a:ext cx="5422392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20" b="0">
                <a:solidFill>
                  <a:srgbClr val="233746"/>
                </a:solidFill>
                <a:latin typeface="Aptos"/>
              </a:defRPr>
            </a:pPr>
            <a:r>
              <a:t>Link indicators and cases, store encrypted evidence, record custody and generate forensic reports.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215384"/>
            <a:ext cx="5614416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Technology stack — mapped to the prototype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526280"/>
            <a:ext cx="5614416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663440"/>
            <a:ext cx="310896" cy="3108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0664" y="4663440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rPr dirty="0"/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" y="4855464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Analysis engine</a:t>
            </a:r>
          </a:p>
        </p:txBody>
      </p:sp>
      <p:pic>
        <p:nvPicPr>
          <p:cNvPr id="31" name="Picture 30" descr="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792" y="4663440"/>
            <a:ext cx="310896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139696" y="4663440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39696" y="4855464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REST + validation</a:t>
            </a:r>
          </a:p>
        </p:txBody>
      </p:sp>
      <p:pic>
        <p:nvPicPr>
          <p:cNvPr id="34" name="Picture 33" descr="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3824" y="4663440"/>
            <a:ext cx="310896" cy="3108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538728" y="4663440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38728" y="4855464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Chrome MV3</a:t>
            </a:r>
          </a:p>
        </p:txBody>
      </p:sp>
      <p:pic>
        <p:nvPicPr>
          <p:cNvPr id="37" name="Picture 36" descr="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856" y="4663440"/>
            <a:ext cx="310896" cy="3108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37760" y="4663440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855464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Risk models</a:t>
            </a:r>
          </a:p>
        </p:txBody>
      </p:sp>
      <p:pic>
        <p:nvPicPr>
          <p:cNvPr id="40" name="Picture 39" descr="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5101158"/>
            <a:ext cx="310896" cy="3108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40664" y="5093207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" y="5285231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SOC interface</a:t>
            </a:r>
          </a:p>
        </p:txBody>
      </p:sp>
      <p:pic>
        <p:nvPicPr>
          <p:cNvPr id="43" name="Picture 42" descr="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4792" y="5093207"/>
            <a:ext cx="310896" cy="3108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139696" y="5093207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39696" y="5285231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Forensic ledger</a:t>
            </a:r>
          </a:p>
        </p:txBody>
      </p:sp>
      <p:pic>
        <p:nvPicPr>
          <p:cNvPr id="46" name="Picture 45" descr="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3824" y="5093207"/>
            <a:ext cx="310896" cy="31089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538728" y="5093207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t>OpenCV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38728" y="5285231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QR decoding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62856" y="5093207"/>
            <a:ext cx="320040" cy="310896"/>
          </a:xfrm>
          <a:prstGeom prst="roundRect">
            <a:avLst>
              <a:gd name="adj" fmla="val 12000"/>
            </a:avLst>
          </a:prstGeom>
          <a:solidFill>
            <a:srgbClr val="806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6572" y="5157216"/>
            <a:ext cx="292608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OCR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5093207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t>RapidOCR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5285231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Image text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5522975"/>
            <a:ext cx="320040" cy="310896"/>
          </a:xfrm>
          <a:prstGeom prst="roundRect">
            <a:avLst>
              <a:gd name="adj" fmla="val 12000"/>
            </a:avLst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9476" y="5586983"/>
            <a:ext cx="292608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DNS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" y="5522975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t>dkimpy / DNS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" y="5714999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64792" y="5522975"/>
            <a:ext cx="320040" cy="310896"/>
          </a:xfrm>
          <a:prstGeom prst="roundRect">
            <a:avLst>
              <a:gd name="adj" fmla="val 12000"/>
            </a:avLst>
          </a:prstGeom>
          <a:solidFill>
            <a:srgbClr val="315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778508" y="5586983"/>
            <a:ext cx="292608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AES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9696" y="5522975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t>cryptography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9696" y="5714999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AES-GCM</a:t>
            </a:r>
          </a:p>
        </p:txBody>
      </p:sp>
      <p:pic>
        <p:nvPicPr>
          <p:cNvPr id="61" name="Picture 60" descr="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63824" y="5522975"/>
            <a:ext cx="310896" cy="31089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538728" y="5522975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38728" y="5714999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Isolated worker*</a:t>
            </a:r>
          </a:p>
        </p:txBody>
      </p:sp>
      <p:pic>
        <p:nvPicPr>
          <p:cNvPr id="64" name="Picture 63" descr="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2856" y="5522975"/>
            <a:ext cx="310896" cy="3108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937760" y="5522975"/>
            <a:ext cx="1005840" cy="1828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173958"/>
                </a:solidFill>
                <a:latin typeface="Aptos"/>
              </a:defRPr>
            </a:pPr>
            <a:r>
              <a:t>Render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60" y="5714999"/>
            <a:ext cx="1005840" cy="20116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869" b="0">
                <a:solidFill>
                  <a:srgbClr val="233746"/>
                </a:solidFill>
                <a:latin typeface="Aptos"/>
              </a:defRPr>
            </a:pPr>
            <a:r>
              <a:t>Hosted services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81344" y="1097280"/>
            <a:ext cx="5660136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System architecture and working flow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81344" y="1408176"/>
            <a:ext cx="5660136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245352" y="1572768"/>
            <a:ext cx="1874519" cy="1078992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64224" y="1664208"/>
            <a:ext cx="1636775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INPUT LAYER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4224" y="1965960"/>
            <a:ext cx="1636775" cy="62179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Gmail extension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Original EML / MIME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Scoped API key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485632" y="1572768"/>
            <a:ext cx="3264408" cy="1078992"/>
          </a:xfrm>
          <a:prstGeom prst="roundRect">
            <a:avLst>
              <a:gd name="adj" fmla="val 12000"/>
            </a:avLst>
          </a:prstGeom>
          <a:solidFill>
            <a:srgbClr val="FF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04504" y="1664208"/>
            <a:ext cx="3026663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FASTAPI GATEWAY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04504" y="1965960"/>
            <a:ext cx="3026663" cy="62179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Origin + identity validation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Size limits · ingestion · orchestration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8174736" y="2002536"/>
            <a:ext cx="246888" cy="201168"/>
          </a:xfrm>
          <a:prstGeom prst="rightArrow">
            <a:avLst/>
          </a:prstGeom>
          <a:solidFill>
            <a:srgbClr val="00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" name="Connector 75"/>
          <p:cNvCxnSpPr/>
          <p:nvPr/>
        </p:nvCxnSpPr>
        <p:spPr>
          <a:xfrm>
            <a:off x="10122408" y="2660904"/>
            <a:ext cx="0" cy="219456"/>
          </a:xfrm>
          <a:prstGeom prst="line">
            <a:avLst/>
          </a:prstGeom>
          <a:ln w="17780">
            <a:solidFill>
              <a:srgbClr val="4C7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8485632" y="2880360"/>
            <a:ext cx="3264408" cy="1426464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604504" y="2971800"/>
            <a:ext cx="3026663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rPr dirty="0"/>
              <a:t>MULTI-LAYER ANALYSIS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04504" y="3273552"/>
            <a:ext cx="3026663" cy="9692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Multilingual NLP + ML scoring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Sender / DKIM / DMARC evidence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URL + domain + IP intelligence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Attachment / QR / OCR signals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45352" y="2880360"/>
            <a:ext cx="1874519" cy="1426464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64224" y="2971800"/>
            <a:ext cx="1636775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64224" y="3273552"/>
            <a:ext cx="1636775" cy="9692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233746"/>
                </a:solidFill>
                <a:latin typeface="Aptos"/>
              </a:defRPr>
            </a:pPr>
            <a:r>
              <a:t>Received headers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233746"/>
                </a:solidFill>
                <a:latin typeface="Aptos"/>
              </a:defRPr>
            </a:pPr>
            <a:r>
              <a:t>DNS + public IPs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233746"/>
                </a:solidFill>
                <a:latin typeface="Aptos"/>
              </a:defRPr>
            </a:pPr>
            <a:r>
              <a:t>Original bytes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233746"/>
                </a:solidFill>
                <a:latin typeface="Aptos"/>
              </a:defRPr>
            </a:pPr>
            <a:r>
              <a:t>Optional reputation*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8174736" y="3474720"/>
            <a:ext cx="246888" cy="201168"/>
          </a:xfrm>
          <a:prstGeom prst="rightArrow">
            <a:avLst/>
          </a:prstGeom>
          <a:solidFill>
            <a:srgbClr val="00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4" name="Connector 83"/>
          <p:cNvCxnSpPr/>
          <p:nvPr/>
        </p:nvCxnSpPr>
        <p:spPr>
          <a:xfrm>
            <a:off x="10122408" y="4315968"/>
            <a:ext cx="0" cy="228600"/>
          </a:xfrm>
          <a:prstGeom prst="line">
            <a:avLst/>
          </a:prstGeom>
          <a:ln w="17780">
            <a:solidFill>
              <a:srgbClr val="4C7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8485632" y="4544568"/>
            <a:ext cx="3264408" cy="1124712"/>
          </a:xfrm>
          <a:prstGeom prst="roundRect">
            <a:avLst>
              <a:gd name="adj" fmla="val 12000"/>
            </a:avLst>
          </a:prstGeom>
          <a:solidFill>
            <a:srgbClr val="EE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604504" y="4636007"/>
            <a:ext cx="3026663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SOC INVESTIGATION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04504" y="4937759"/>
            <a:ext cx="3026663" cy="6675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Findings · relay trace · graph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Cases · custody · PDF/HTML reports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45352" y="4544568"/>
            <a:ext cx="1874519" cy="1124712"/>
          </a:xfrm>
          <a:prstGeom prst="roundRect">
            <a:avLst>
              <a:gd name="adj" fmla="val 12000"/>
            </a:avLst>
          </a:prstGeom>
          <a:solidFill>
            <a:srgbClr val="EAF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364224" y="4636007"/>
            <a:ext cx="1636775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PRESERVATION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64224" y="4937759"/>
            <a:ext cx="1636775" cy="6675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233746"/>
                </a:solidFill>
                <a:latin typeface="Aptos"/>
              </a:defRPr>
            </a:pPr>
            <a:r>
              <a:t>SQLite + SHA-256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233746"/>
                </a:solidFill>
                <a:latin typeface="Aptos"/>
              </a:defRPr>
            </a:pPr>
            <a:r>
              <a:t>AES-GCM evidence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150" b="0">
                <a:solidFill>
                  <a:srgbClr val="233746"/>
                </a:solidFill>
                <a:latin typeface="Aptos"/>
              </a:defRPr>
            </a:pPr>
            <a:r>
              <a:t>Versioned records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8119872" y="5093208"/>
            <a:ext cx="365760" cy="0"/>
          </a:xfrm>
          <a:prstGeom prst="line">
            <a:avLst/>
          </a:prstGeom>
          <a:ln w="17780">
            <a:solidFill>
              <a:srgbClr val="4C7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93192" y="6053328"/>
            <a:ext cx="11384280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184"/>
                </a:solidFill>
                <a:latin typeface="Aptos"/>
              </a:defRPr>
            </a:pPr>
            <a:r>
              <a:t>*Isolated inspection / reputation require separate configuration. Missing original bytes or provider data are labelled, not assumed 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@SIH2026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latin typeface="Aptos"/>
              </a:defRPr>
            </a:pPr>
            <a:r>
              <a:rPr lang="en-US" dirty="0"/>
              <a:t>TEAM NETRA</a:t>
            </a:r>
            <a:endParaRPr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310896"/>
            <a:ext cx="8092440" cy="6126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73958"/>
                </a:solidFill>
                <a:latin typeface="Aptos"/>
              </a:defRPr>
            </a:pPr>
            <a:r>
              <a:t>FEASIBILITY AND VIABILITY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097280"/>
            <a:ext cx="7095744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Analysis of feasibility and viability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408176"/>
            <a:ext cx="7095744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98064" y="1581912"/>
            <a:ext cx="2084831" cy="557784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solidFill>
              <a:srgbClr val="4C7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0360" y="1682496"/>
            <a:ext cx="1920240" cy="36576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73958"/>
                </a:solidFill>
                <a:latin typeface="Aptos"/>
              </a:defRPr>
            </a:pPr>
            <a:r>
              <a:t>NETRA-MAIL PILOT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40480" y="2139696"/>
            <a:ext cx="0" cy="192024"/>
          </a:xfrm>
          <a:prstGeom prst="line">
            <a:avLst/>
          </a:prstGeom>
          <a:ln w="17780">
            <a:solidFill>
              <a:srgbClr val="4C7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79576" y="2331720"/>
            <a:ext cx="5367528" cy="0"/>
          </a:xfrm>
          <a:prstGeom prst="line">
            <a:avLst/>
          </a:prstGeom>
          <a:ln w="17780">
            <a:solidFill>
              <a:srgbClr val="4C7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61288" y="2331720"/>
            <a:ext cx="0" cy="192024"/>
          </a:xfrm>
          <a:prstGeom prst="line">
            <a:avLst/>
          </a:prstGeom>
          <a:ln w="17780">
            <a:solidFill>
              <a:srgbClr val="4C7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65760" y="2523744"/>
            <a:ext cx="1627632" cy="448056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solidFill>
              <a:srgbClr val="739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" y="2642616"/>
            <a:ext cx="1517904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136392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" y="3218688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Existing Python / ML stack; modular analyzers and REST APIs.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86784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" y="4069080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Six language profiles; Romanized cues and explainable findings.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837176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8056" y="4919472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149 local regression tests passed; unseen-data validation next.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53512" y="2331720"/>
            <a:ext cx="0" cy="192024"/>
          </a:xfrm>
          <a:prstGeom prst="line">
            <a:avLst/>
          </a:prstGeom>
          <a:ln w="17780">
            <a:solidFill>
              <a:srgbClr val="4C7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57984" y="2523744"/>
            <a:ext cx="1627632" cy="448056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solidFill>
              <a:srgbClr val="739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12848" y="2642616"/>
            <a:ext cx="1517904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FINANCIAL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57984" y="3136392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40279" y="3218688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Open-source components reduce initial licensing overhead.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57984" y="3986784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40279" y="4069080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Budget for compute, durable evidence storage and provider usage.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57984" y="4837176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240279" y="4919472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Institutional pilot first; scale only after measured value.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745736" y="2331720"/>
            <a:ext cx="0" cy="192024"/>
          </a:xfrm>
          <a:prstGeom prst="line">
            <a:avLst/>
          </a:prstGeom>
          <a:ln w="17780">
            <a:solidFill>
              <a:srgbClr val="4C7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950208" y="2523744"/>
            <a:ext cx="1627632" cy="448056"/>
          </a:xfrm>
          <a:prstGeom prst="roundRect">
            <a:avLst>
              <a:gd name="adj" fmla="val 12000"/>
            </a:avLst>
          </a:prstGeom>
          <a:solidFill>
            <a:srgbClr val="EAF3D7"/>
          </a:solidFill>
          <a:ln>
            <a:solidFill>
              <a:srgbClr val="739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005072" y="2642616"/>
            <a:ext cx="1517904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OPERATIONAL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50208" y="3136392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EAF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32504" y="3218688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Manual Gmail scan and direct report link fit analyst workflows.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50208" y="3986784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EAF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32504" y="4069080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Scoped roles, case notes and custody support team review.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50208" y="4837176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EAF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032504" y="4919472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Train analysts; define retention, backups and response procedures.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537960" y="2331720"/>
            <a:ext cx="0" cy="192024"/>
          </a:xfrm>
          <a:prstGeom prst="line">
            <a:avLst/>
          </a:prstGeom>
          <a:ln w="17780">
            <a:solidFill>
              <a:srgbClr val="4C7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742432" y="2523744"/>
            <a:ext cx="1627632" cy="448056"/>
          </a:xfrm>
          <a:prstGeom prst="roundRect">
            <a:avLst>
              <a:gd name="adj" fmla="val 12000"/>
            </a:avLst>
          </a:prstGeom>
          <a:solidFill>
            <a:srgbClr val="EEE4F8"/>
          </a:solidFill>
          <a:ln>
            <a:solidFill>
              <a:srgbClr val="7392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97296" y="2642616"/>
            <a:ext cx="1517904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SOCIAL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42432" y="3136392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EE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24728" y="3218688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Regional-language cues support more inclusive phishing review.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742432" y="3986784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EE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824728" y="4069080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Readable reasons build awareness of social-engineering tactics.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42432" y="4837176"/>
            <a:ext cx="1627632" cy="777240"/>
          </a:xfrm>
          <a:prstGeom prst="roundRect">
            <a:avLst>
              <a:gd name="adj" fmla="val 12000"/>
            </a:avLst>
          </a:prstGeom>
          <a:solidFill>
            <a:srgbClr val="EE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24728" y="4919472"/>
            <a:ext cx="1463040" cy="6400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233746"/>
                </a:solidFill>
                <a:latin typeface="Aptos"/>
              </a:defRPr>
            </a:pPr>
            <a:r>
              <a:t>Human review and explicit limits reduce false confidence.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7536" y="1097280"/>
            <a:ext cx="4133087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Risks and mitigation strategies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17536" y="1408176"/>
            <a:ext cx="4133087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7717536" y="1600200"/>
            <a:ext cx="4133087" cy="1325880"/>
          </a:xfrm>
          <a:prstGeom prst="roundRect">
            <a:avLst>
              <a:gd name="adj" fmla="val 12000"/>
            </a:avLst>
          </a:prstGeom>
          <a:solidFill>
            <a:srgbClr val="EAF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836408" y="1691640"/>
            <a:ext cx="3895344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TECHNICAL CHALLENGES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1993392"/>
            <a:ext cx="3895344" cy="8686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• Missing originals → EML / authorized MIME fetch.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• Language/model errors → labelled per-language tests.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• Provider outages → timeouts and unavailable labels.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17536" y="3072384"/>
            <a:ext cx="4133087" cy="1225296"/>
          </a:xfrm>
          <a:prstGeom prst="roundRect">
            <a:avLst>
              <a:gd name="adj" fmla="val 12000"/>
            </a:avLst>
          </a:prstGeom>
          <a:solidFill>
            <a:srgbClr val="FFF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36408" y="3163824"/>
            <a:ext cx="3895344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FINANCIAL CHALLENGES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36408" y="3465576"/>
            <a:ext cx="3895344" cy="7680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• Hosting/storage costs → staged institutional pilot.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• Paid intelligence → optional, budgeted providers.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• Data growth → retention and backup policy.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17536" y="4443984"/>
            <a:ext cx="4133087" cy="1280160"/>
          </a:xfrm>
          <a:prstGeom prst="roundRect">
            <a:avLst>
              <a:gd name="adj" fmla="val 12000"/>
            </a:avLst>
          </a:prstGeom>
          <a:solidFill>
            <a:srgbClr val="FF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836408" y="4535424"/>
            <a:ext cx="3895344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OPERATIONAL CHALLENGES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36408" y="4837176"/>
            <a:ext cx="3895344" cy="822959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• Public access → dashboard login before real use.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• False alerts → analyst review and feedback.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• Evidence continuity → durable disk + restore drills.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192" y="6053328"/>
            <a:ext cx="11384280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184"/>
                </a:solidFill>
                <a:latin typeface="Aptos"/>
              </a:defRPr>
            </a:pPr>
            <a:r>
              <a:t>Pilot readiness is distinct from production readiness. Regression tests do not establish phishing accuracy or legal admissibility.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@SIH2026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0624" y="18274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latin typeface="Aptos"/>
              </a:defRPr>
            </a:pPr>
            <a:r>
              <a:rPr lang="en-US" dirty="0"/>
              <a:t>TEAM NETRA</a:t>
            </a:r>
            <a:endParaRPr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310896"/>
            <a:ext cx="8092440" cy="6126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73958"/>
                </a:solidFill>
                <a:latin typeface="Aptos"/>
              </a:defRPr>
            </a:pPr>
            <a:r>
              <a:t>IMPACT AND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097280"/>
            <a:ext cx="5577840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Potential impact on the target audience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408176"/>
            <a:ext cx="5577840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1563624"/>
            <a:ext cx="5376672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Citizens and institutional email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792224"/>
            <a:ext cx="5376672" cy="5120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Language-aware warnings expose credential theft, payment pressure and deceptive links.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304288"/>
            <a:ext cx="5376672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SOC analysts and campus IT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532888"/>
            <a:ext cx="5376672" cy="5120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One investigation view connects findings, observed infrastructure, campaigns and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044952"/>
            <a:ext cx="5376672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Incident-response and review teams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273552"/>
            <a:ext cx="5376672" cy="5120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Versioned records, custody events and forensic reports improve handover and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785616"/>
            <a:ext cx="5376672" cy="21945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73958"/>
                </a:solidFill>
                <a:latin typeface="Aptos"/>
              </a:defRPr>
            </a:pPr>
            <a:r>
              <a:t>Regional-language communities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014216"/>
            <a:ext cx="5376672" cy="5120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60" b="0">
                <a:solidFill>
                  <a:srgbClr val="233746"/>
                </a:solidFill>
                <a:latin typeface="Aptos"/>
              </a:defRPr>
            </a:pPr>
            <a:r>
              <a:t>English, Hindi, Tamil, Telugu, Kannada and Malayalam cues broaden contextual coverage.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608576"/>
            <a:ext cx="5577840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Benefits — social, economic and resource 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919472"/>
            <a:ext cx="5577840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0624" y="5056632"/>
            <a:ext cx="5376672" cy="93268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t>• Social: clearer phishing awareness and regional-language inclusion.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t>• Economic: aim to reduce manual review effort and fraud exposure.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t>• Resource use: digital reports and user-initiated scans avoid unnecessary processing.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1097280"/>
            <a:ext cx="5623560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rPr dirty="0"/>
              <a:t>Adoption, sustainability and measurable 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1408176"/>
            <a:ext cx="5623560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08776" y="1572768"/>
            <a:ext cx="5623560" cy="950976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27648" y="1664208"/>
            <a:ext cx="5385816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TARGET USERS / EARLY ADOPTERS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1965960"/>
            <a:ext cx="5385816" cy="49377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t>University IT cells, institutional SOCs and small organizations handling suspicious email reports.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2670048"/>
            <a:ext cx="5623560" cy="1069848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7648" y="2761488"/>
            <a:ext cx="5385816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VALUE-ADDED CAPABILITIES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063240"/>
            <a:ext cx="5385816" cy="612647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t>Multilingual cues · QR/OCR inspection · explainable risk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t>Authentication evidence · campaign links · traceable reports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3886200"/>
            <a:ext cx="5623560" cy="914400"/>
          </a:xfrm>
          <a:prstGeom prst="roundRect">
            <a:avLst>
              <a:gd name="adj" fmla="val 12000"/>
            </a:avLst>
          </a:prstGeom>
          <a:solidFill>
            <a:srgbClr val="FFF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27648" y="3977639"/>
            <a:ext cx="5385816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SUSTAINABILITY MODEL — PROPOSED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279392"/>
            <a:ext cx="5385816" cy="4572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t>Institution-managed hosting; optional paid intelligence. Evaluate support subscriptions after pilot validation.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010912"/>
            <a:ext cx="5486400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173958"/>
                </a:solidFill>
                <a:latin typeface="Aptos"/>
              </a:defRPr>
            </a:pPr>
            <a:r>
              <a:t>PHASED ROLLOUT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54496" y="5422392"/>
            <a:ext cx="1682496" cy="530352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59" y="5486400"/>
            <a:ext cx="1572768" cy="4114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73958"/>
                </a:solidFill>
                <a:latin typeface="Aptos"/>
              </a:defRPr>
            </a:pPr>
            <a:r>
              <a:t>Institution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73958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973567" y="5577840"/>
            <a:ext cx="128016" cy="164592"/>
          </a:xfrm>
          <a:prstGeom prst="rightArrow">
            <a:avLst/>
          </a:prstGeom>
          <a:solidFill>
            <a:srgbClr val="00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138160" y="5422392"/>
            <a:ext cx="1682496" cy="530352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93024" y="5486400"/>
            <a:ext cx="1572768" cy="4114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73958"/>
                </a:solidFill>
                <a:latin typeface="Aptos"/>
              </a:defRPr>
            </a:pPr>
            <a:r>
              <a:t>Measure &amp;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73958"/>
                </a:solidFill>
                <a:latin typeface="Aptos"/>
              </a:defRPr>
            </a:pPr>
            <a:r>
              <a:t>calibrate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9857232" y="5577840"/>
            <a:ext cx="128016" cy="164592"/>
          </a:xfrm>
          <a:prstGeom prst="rightArrow">
            <a:avLst/>
          </a:prstGeom>
          <a:solidFill>
            <a:srgbClr val="00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021824" y="5422392"/>
            <a:ext cx="1682496" cy="530352"/>
          </a:xfrm>
          <a:prstGeom prst="roundRect">
            <a:avLst>
              <a:gd name="adj" fmla="val 12000"/>
            </a:avLst>
          </a:prstGeom>
          <a:solidFill>
            <a:srgbClr val="EAF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76688" y="5486400"/>
            <a:ext cx="1572768" cy="41148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73958"/>
                </a:solidFill>
                <a:latin typeface="Aptos"/>
              </a:defRPr>
            </a:pPr>
            <a:r>
              <a:t>Multi-team</a:t>
            </a:r>
          </a:p>
          <a:p>
            <a:pPr algn="ctr"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73958"/>
                </a:solidFill>
                <a:latin typeface="Aptos"/>
              </a:defRPr>
            </a:pPr>
            <a:r>
              <a:t>adoption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" y="6061279"/>
            <a:ext cx="11384280" cy="21031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607184"/>
                </a:solidFill>
                <a:latin typeface="Aptos"/>
              </a:defRPr>
            </a:pPr>
            <a:r>
              <a:t>Measure: per-language precision/recall · false-positive rate · median/p95 scan latency · review time · report completeness. No outcome claims yet.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@SIH2026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500" b="1">
                <a:latin typeface="Aptos"/>
              </a:defRPr>
            </a:pPr>
            <a:r>
              <a:rPr lang="en-US" dirty="0"/>
              <a:t>TEAM NETRA</a:t>
            </a:r>
            <a:endParaRPr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920" y="310896"/>
            <a:ext cx="8092440" cy="61264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73958"/>
                </a:solidFill>
                <a:latin typeface="Aptos"/>
              </a:defRPr>
            </a:pPr>
            <a:r>
              <a:t>RESEARCH AND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097280"/>
            <a:ext cx="5623560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Reference research and standards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408176"/>
            <a:ext cx="5623560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5760" y="1600200"/>
            <a:ext cx="5541264" cy="804672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1691640"/>
            <a:ext cx="5239512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06EB9"/>
                </a:solidFill>
                <a:latin typeface="Aptos"/>
              </a:defRPr>
            </a:pPr>
            <a:r>
              <a:rPr>
                <a:hlinkClick r:id="rId4"/>
              </a:rPr>
              <a:t>DKIM — RFC 6376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011680"/>
            <a:ext cx="5239512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Signature verification over original message bytes; signing-domain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532888"/>
            <a:ext cx="5541264" cy="804672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624328"/>
            <a:ext cx="5239512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06EB9"/>
                </a:solidFill>
                <a:latin typeface="Aptos"/>
              </a:defRPr>
            </a:pPr>
            <a:r>
              <a:rPr>
                <a:hlinkClick r:id="rId5"/>
              </a:rPr>
              <a:t>SPF — RFC 7208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44368"/>
            <a:ext cx="5239512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Sender authorization requires trusted SMTP connection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465576"/>
            <a:ext cx="5541264" cy="804672"/>
          </a:xfrm>
          <a:prstGeom prst="roundRect">
            <a:avLst>
              <a:gd name="adj" fmla="val 12000"/>
            </a:avLst>
          </a:prstGeom>
          <a:solidFill>
            <a:srgbClr val="EAF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557016"/>
            <a:ext cx="5239512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06EB9"/>
                </a:solidFill>
                <a:latin typeface="Aptos"/>
              </a:defRPr>
            </a:pPr>
            <a:r>
              <a:rPr>
                <a:hlinkClick r:id="rId6"/>
              </a:rPr>
              <a:t>DMARC — RFC 7489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77056"/>
            <a:ext cx="5239512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From-domain alignment using DKIM and trusted SPF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398264"/>
            <a:ext cx="5541264" cy="804672"/>
          </a:xfrm>
          <a:prstGeom prst="roundRect">
            <a:avLst>
              <a:gd name="adj" fmla="val 12000"/>
            </a:avLst>
          </a:prstGeom>
          <a:solidFill>
            <a:srgbClr val="EEE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489704"/>
            <a:ext cx="5239512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06EB9"/>
                </a:solidFill>
                <a:latin typeface="Aptos"/>
              </a:defRPr>
            </a:pPr>
            <a:r>
              <a:rPr>
                <a:hlinkClick r:id="rId7"/>
              </a:rPr>
              <a:t>Digital forensics — NIST SP 800-86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09744"/>
            <a:ext cx="5239512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33746"/>
                </a:solidFill>
                <a:latin typeface="Aptos"/>
              </a:defRPr>
            </a:pPr>
            <a:r>
              <a:t>Collection → examination → analysis → reporting.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097280"/>
            <a:ext cx="5577840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rPr dirty="0"/>
              <a:t>Prototype evidence and validation roadmap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408176"/>
            <a:ext cx="5577840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63640" y="1600200"/>
            <a:ext cx="5532120" cy="1143000"/>
          </a:xfrm>
          <a:prstGeom prst="roundRect">
            <a:avLst>
              <a:gd name="adj" fmla="val 12000"/>
            </a:avLst>
          </a:prstGeom>
          <a:solidFill>
            <a:srgbClr val="E1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82512" y="1691640"/>
            <a:ext cx="5294376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rPr dirty="0"/>
              <a:t>IMPLEMENTED PROTOTYPE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1993392"/>
            <a:ext cx="5294376" cy="68580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rPr dirty="0"/>
              <a:t>Chrome MV3 + </a:t>
            </a:r>
            <a:r>
              <a:rPr dirty="0" err="1"/>
              <a:t>FastAPI</a:t>
            </a:r>
            <a:r>
              <a:rPr dirty="0"/>
              <a:t> + </a:t>
            </a:r>
            <a:r>
              <a:rPr dirty="0" err="1"/>
              <a:t>Streamlit</a:t>
            </a:r>
            <a:r>
              <a:rPr dirty="0"/>
              <a:t>; multilingual rules;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rPr dirty="0"/>
              <a:t>QR/OCR integration; authentication evidence; cases,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rPr dirty="0"/>
              <a:t>correlation, encrypted storage and report generation.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2880360"/>
            <a:ext cx="5532120" cy="1207008"/>
          </a:xfrm>
          <a:prstGeom prst="roundRect">
            <a:avLst>
              <a:gd name="adj" fmla="val 12000"/>
            </a:avLst>
          </a:prstGeom>
          <a:solidFill>
            <a:srgbClr val="DD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2971800"/>
            <a:ext cx="5294376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MULTILINGUAL DESIGN BASIS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3273552"/>
            <a:ext cx="5294376" cy="7498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t>Unicode script detection + contextual security cues.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t>Native scripts and Romanized/transliterated patterns.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33746"/>
                </a:solidFill>
                <a:latin typeface="Aptos"/>
              </a:defRPr>
            </a:pPr>
            <a:r>
              <a:t>Output: language, method, cues, confidence and limits.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224528"/>
            <a:ext cx="5532120" cy="1554480"/>
          </a:xfrm>
          <a:prstGeom prst="roundRect">
            <a:avLst>
              <a:gd name="adj" fmla="val 12000"/>
            </a:avLst>
          </a:prstGeom>
          <a:solidFill>
            <a:srgbClr val="FFF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82512" y="4315968"/>
            <a:ext cx="5294376" cy="310896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3958"/>
                </a:solidFill>
                <a:latin typeface="Aptos"/>
              </a:defRPr>
            </a:pPr>
            <a:r>
              <a:t>EVALUATION TO COMPLETE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617720"/>
            <a:ext cx="5294376" cy="969264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233746"/>
                </a:solidFill>
                <a:latin typeface="Aptos"/>
              </a:defRPr>
            </a:pPr>
            <a:r>
              <a:t>• Unseen benign/phishing corpus with language labels.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233746"/>
                </a:solidFill>
                <a:latin typeface="Aptos"/>
              </a:defRPr>
            </a:pPr>
            <a:r>
              <a:t>• Native + Romanized + mixed-script cases.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233746"/>
                </a:solidFill>
                <a:latin typeface="Aptos"/>
              </a:defRPr>
            </a:pPr>
            <a:r>
              <a:t>• False positives, recall and latency by language.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233746"/>
                </a:solidFill>
                <a:latin typeface="Aptos"/>
              </a:defRPr>
            </a:pPr>
            <a:r>
              <a:t>• Original-MIME and missing-evidence scenarios.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233746"/>
                </a:solidFill>
                <a:latin typeface="Aptos"/>
              </a:defRPr>
            </a:pPr>
            <a:r>
              <a:t>• Hosted access, persistence and recovery checks.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5504688"/>
            <a:ext cx="5623560" cy="274320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3958"/>
                </a:solidFill>
                <a:latin typeface="Aptos"/>
              </a:defRPr>
            </a:pPr>
            <a:r>
              <a:t>Project source and reproducible evidence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815583"/>
            <a:ext cx="5623560" cy="16459"/>
          </a:xfrm>
          <a:prstGeom prst="rect">
            <a:avLst/>
          </a:prstGeom>
          <a:solidFill>
            <a:srgbClr val="006E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3192" y="5879592"/>
            <a:ext cx="5532120" cy="292608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006EB9"/>
                </a:solidFill>
                <a:latin typeface="Aptos"/>
              </a:defRPr>
            </a:pPr>
            <a:r>
              <a:rPr>
                <a:hlinkClick r:id="rId8"/>
              </a:rPr>
              <a:t>github.com/nitheenkumar25bcy37-alt/NETRA-MAIL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5824728"/>
            <a:ext cx="5422392" cy="301752"/>
          </a:xfrm>
          <a:prstGeom prst="rect">
            <a:avLst/>
          </a:prstGeom>
          <a:noFill/>
        </p:spPr>
        <p:txBody>
          <a:bodyPr wrap="square" lIns="22860" tIns="0" rIns="2286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173958"/>
                </a:solidFill>
                <a:latin typeface="Aptos"/>
              </a:defRPr>
            </a:pPr>
            <a:r>
              <a:t>149 local automated tests passed; no claimed accuracy.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7682</TotalTime>
  <Words>1621</Words>
  <Application>Microsoft Office PowerPoint</Application>
  <PresentationFormat>Widescreen</PresentationFormat>
  <Paragraphs>239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nitheen j</cp:lastModifiedBy>
  <cp:revision>148</cp:revision>
  <dcterms:created xsi:type="dcterms:W3CDTF">2013-12-12T18:46:50Z</dcterms:created>
  <dcterms:modified xsi:type="dcterms:W3CDTF">2026-09-16T13:07:18Z</dcterms:modified>
  <cp:category/>
</cp:coreProperties>
</file>