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49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theen j" userId="2d2e95566273fa1a" providerId="LiveId" clId="{3B1FB7C6-C945-476A-883E-523C0FE6ED29}"/>
    <pc:docChg chg="undo custSel modSld">
      <pc:chgData name="nitheen j" userId="2d2e95566273fa1a" providerId="LiveId" clId="{3B1FB7C6-C945-476A-883E-523C0FE6ED29}" dt="2026-09-15T13:58:20.598" v="178" actId="20577"/>
      <pc:docMkLst>
        <pc:docMk/>
      </pc:docMkLst>
      <pc:sldChg chg="modSp mod">
        <pc:chgData name="nitheen j" userId="2d2e95566273fa1a" providerId="LiveId" clId="{3B1FB7C6-C945-476A-883E-523C0FE6ED29}" dt="2026-09-15T13:58:20.598" v="178" actId="20577"/>
        <pc:sldMkLst>
          <pc:docMk/>
          <pc:sldMk cId="0" sldId="291"/>
        </pc:sldMkLst>
        <pc:spChg chg="mod">
          <ac:chgData name="nitheen j" userId="2d2e95566273fa1a" providerId="LiveId" clId="{3B1FB7C6-C945-476A-883E-523C0FE6ED29}" dt="2026-09-15T13:58:20.598" v="178" actId="20577"/>
          <ac:spMkLst>
            <pc:docMk/>
            <pc:sldMk cId="0" sldId="291"/>
            <ac:spMk id="3" creationId="{00000000-0000-0000-0000-000000000000}"/>
          </ac:spMkLst>
        </pc:spChg>
        <pc:spChg chg="mod">
          <ac:chgData name="nitheen j" userId="2d2e95566273fa1a" providerId="LiveId" clId="{3B1FB7C6-C945-476A-883E-523C0FE6ED29}" dt="2026-09-15T13:58:08.020" v="172" actId="20577"/>
          <ac:spMkLst>
            <pc:docMk/>
            <pc:sldMk cId="0" sldId="291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Confirm the official problem-statement title, theme, team ID and registered team name before submission. PS 26106 comes from the project documentation and requires portal confirmation.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149 automated tests passed in the local project run recorded on 15 September 2026. This is a software regression count, not classification accuracy. Before a real institutional deployment, implement dashboard authentication, verify backups and test encrypted evidence retention. Provider-backed checks depend on configured external services.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Reference links are clickable. RFC 7489 is cited as the DMARC basis used in this implementation; consult RFC Editor for subsequent updates. Layout inspiration: user-supplied 2025 Sarthi / Bit-Storm reference PDF. Content and diagrams describe NETRA-Mail. No independent phishing-accuracy or financial-impact claim is made.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nitheenkumar25bcy37-alt/NETRA-MAIL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csrc.nist.gov/pubs/sp/800/86/fina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fc-editor.org/info/rfc7489/" TargetMode="External"/><Relationship Id="rId5" Type="http://schemas.openxmlformats.org/officeDocument/2006/relationships/hyperlink" Target="https://www.rfc-editor.org/info/rfc7208/" TargetMode="External"/><Relationship Id="rId4" Type="http://schemas.openxmlformats.org/officeDocument/2006/relationships/hyperlink" Target="https://www.rfc-editor.org/info/rfc6376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961120" cy="40011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006EB9"/>
                </a:solidFill>
                <a:latin typeface="Aptos"/>
              </a:defRPr>
            </a:pPr>
            <a:r>
              <a:rPr lang="en-US" dirty="0"/>
              <a:t>						</a:t>
            </a:r>
            <a:r>
              <a:rPr dirty="0"/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7315200" cy="73152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4800" b="1">
                <a:solidFill>
                  <a:srgbClr val="143454"/>
                </a:solidFill>
                <a:latin typeface="Aptos"/>
              </a:defRPr>
            </a:pPr>
            <a:r>
              <a:t>NETRA-MAIL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2057400"/>
            <a:ext cx="6675120" cy="77724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2500" b="0">
                <a:solidFill>
                  <a:srgbClr val="26384B"/>
                </a:solidFill>
                <a:latin typeface="Aptos"/>
              </a:defRPr>
            </a:pPr>
            <a:r>
              <a:rPr dirty="0"/>
              <a:t>From a suspicious email to an</a:t>
            </a:r>
          </a:p>
          <a:p>
            <a:pPr>
              <a:spcAft>
                <a:spcPts val="700"/>
              </a:spcAft>
              <a:defRPr sz="2500" b="0">
                <a:solidFill>
                  <a:srgbClr val="26384B"/>
                </a:solidFill>
                <a:latin typeface="Aptos"/>
              </a:defRPr>
            </a:pPr>
            <a:r>
              <a:rPr dirty="0"/>
              <a:t>investigation-ready forensic report.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063240"/>
            <a:ext cx="6583680" cy="2697480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3246120"/>
            <a:ext cx="6172200" cy="2018501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6384B"/>
                </a:solidFill>
                <a:latin typeface="Aptos"/>
              </a:defRPr>
            </a:pPr>
            <a:r>
              <a:rPr dirty="0"/>
              <a:t>Problem Statement ID: 26106</a:t>
            </a:r>
          </a:p>
          <a:p>
            <a:pPr>
              <a:spcAft>
                <a:spcPts val="700"/>
              </a:spcAft>
              <a:defRPr sz="1700" b="0">
                <a:solidFill>
                  <a:srgbClr val="26384B"/>
                </a:solidFill>
                <a:latin typeface="Aptos"/>
              </a:defRPr>
            </a:pPr>
            <a:r>
              <a:rPr dirty="0"/>
              <a:t>PS Title</a:t>
            </a:r>
            <a:r>
              <a:rPr lang="en-US" dirty="0"/>
              <a:t> </a:t>
            </a:r>
            <a:r>
              <a:rPr dirty="0"/>
              <a:t>:</a:t>
            </a:r>
            <a:r>
              <a:rPr lang="en-US" dirty="0"/>
              <a:t> NETRA-MAIL</a:t>
            </a:r>
            <a:endParaRPr dirty="0"/>
          </a:p>
          <a:p>
            <a:pPr>
              <a:spcAft>
                <a:spcPts val="700"/>
              </a:spcAft>
              <a:defRPr sz="1700" b="0">
                <a:solidFill>
                  <a:srgbClr val="26384B"/>
                </a:solidFill>
                <a:latin typeface="Aptos"/>
              </a:defRPr>
            </a:pPr>
            <a:r>
              <a:rPr dirty="0"/>
              <a:t>Theme: </a:t>
            </a:r>
            <a:r>
              <a:rPr lang="en-US" dirty="0"/>
              <a:t>Blockchain and Cybersecurity</a:t>
            </a:r>
          </a:p>
          <a:p>
            <a:pPr>
              <a:spcAft>
                <a:spcPts val="700"/>
              </a:spcAft>
              <a:defRPr sz="1700" b="0">
                <a:solidFill>
                  <a:srgbClr val="26384B"/>
                </a:solidFill>
                <a:latin typeface="Aptos"/>
              </a:defRPr>
            </a:pPr>
            <a:r>
              <a:rPr lang="en-US" dirty="0"/>
              <a:t>PS Category: Software</a:t>
            </a:r>
          </a:p>
          <a:p>
            <a:pPr>
              <a:spcAft>
                <a:spcPts val="700"/>
              </a:spcAft>
              <a:defRPr sz="1700" b="0">
                <a:solidFill>
                  <a:srgbClr val="26384B"/>
                </a:solidFill>
                <a:latin typeface="Aptos"/>
              </a:defRPr>
            </a:pPr>
            <a:r>
              <a:rPr dirty="0"/>
              <a:t>Team ID: </a:t>
            </a:r>
          </a:p>
          <a:p>
            <a:pPr>
              <a:spcAft>
                <a:spcPts val="700"/>
              </a:spcAft>
              <a:defRPr sz="1700" b="0">
                <a:solidFill>
                  <a:srgbClr val="26384B"/>
                </a:solidFill>
                <a:latin typeface="Aptos"/>
              </a:defRPr>
            </a:pPr>
            <a:r>
              <a:rPr dirty="0"/>
              <a:t>Team Name: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463040"/>
            <a:ext cx="4206240" cy="1188720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16952" y="1591056"/>
            <a:ext cx="3877055" cy="347472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43454"/>
                </a:solidFill>
                <a:latin typeface="Aptos"/>
              </a:defRPr>
            </a:pPr>
            <a:r>
              <a:t>DETECT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6952" y="1965960"/>
            <a:ext cx="3877055" cy="61264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6384B"/>
                </a:solidFill>
                <a:latin typeface="Aptos"/>
              </a:defRPr>
            </a:pPr>
            <a:r>
              <a:t>Explainable phishing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2880360"/>
            <a:ext cx="4206240" cy="1188720"/>
          </a:xfrm>
          <a:prstGeom prst="roundRect">
            <a:avLst>
              <a:gd name="adj" fmla="val 12000"/>
            </a:avLst>
          </a:prstGeom>
          <a:solidFill>
            <a:srgbClr val="E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16952" y="3008376"/>
            <a:ext cx="3877055" cy="347472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43454"/>
                </a:solidFill>
                <a:latin typeface="Aptos"/>
              </a:defRPr>
            </a:pPr>
            <a:r>
              <a:t>INVESTIGATE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6952" y="3383280"/>
            <a:ext cx="3877055" cy="61264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6384B"/>
                </a:solidFill>
                <a:latin typeface="Aptos"/>
              </a:defRPr>
            </a:pPr>
            <a:r>
              <a:t>Message, URL and relay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4297680"/>
            <a:ext cx="4206240" cy="1188720"/>
          </a:xfrm>
          <a:prstGeom prst="roundRect">
            <a:avLst>
              <a:gd name="adj" fmla="val 12000"/>
            </a:avLst>
          </a:prstGeom>
          <a:solidFill>
            <a:srgbClr val="FFF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16952" y="4425696"/>
            <a:ext cx="3877055" cy="347472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43454"/>
                </a:solidFill>
                <a:latin typeface="Aptos"/>
              </a:defRPr>
            </a:pPr>
            <a:r>
              <a:t>PRESERVE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6952" y="4800600"/>
            <a:ext cx="3877055" cy="61264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6384B"/>
                </a:solidFill>
                <a:latin typeface="Aptos"/>
              </a:defRPr>
            </a:pPr>
            <a:r>
              <a:t>Case timeline and forensic report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6080760"/>
            <a:ext cx="11338560" cy="438912"/>
          </a:xfrm>
          <a:prstGeom prst="rect">
            <a:avLst/>
          </a:prstGeom>
          <a:solidFill>
            <a:srgbClr val="14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6153912"/>
            <a:ext cx="11018520" cy="32004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rPr dirty="0"/>
              <a:t>User-initiated Gmail analysis  •  Explainable findings  •  Tamper-evident evidence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500" b="1">
                <a:latin typeface="Aptos"/>
              </a:defRPr>
            </a:pPr>
            <a:r>
              <a:t>TEAM</a:t>
            </a:r>
          </a:p>
          <a:p>
            <a:pPr algn="ctr">
              <a:defRPr sz="1500" b="1">
                <a:latin typeface="Aptos"/>
              </a:defRPr>
            </a:pPr>
            <a:r>
              <a:t>[TBD]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737360" y="438912"/>
            <a:ext cx="7863840" cy="59436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700"/>
              </a:spcAft>
              <a:defRPr sz="2800" b="1">
                <a:solidFill>
                  <a:srgbClr val="143454"/>
                </a:solidFill>
                <a:latin typeface="Aptos"/>
              </a:defRPr>
            </a:pPr>
            <a:r>
              <a:t>IDEA TITLE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280160"/>
            <a:ext cx="10972800" cy="36576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006EB9"/>
                </a:solidFill>
                <a:latin typeface="Aptos"/>
              </a:defRPr>
            </a:pPr>
            <a:r>
              <a:rPr dirty="0"/>
              <a:t>Proposed Solution (Describe your Idea/Solution/Prototype)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1737360"/>
            <a:ext cx="11155680" cy="45720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143454"/>
                </a:solidFill>
                <a:latin typeface="Aptos"/>
              </a:defRPr>
            </a:pPr>
            <a:r>
              <a:rPr dirty="0"/>
              <a:t>NETRA-Mail connects a Gmail risk badge to a complete SOC investigation.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423160"/>
            <a:ext cx="3474720" cy="36576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006EB9"/>
                </a:solidFill>
                <a:latin typeface="Aptos"/>
              </a:defRPr>
            </a:pPr>
            <a:r>
              <a:t>Detailed explanation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423160"/>
            <a:ext cx="3566160" cy="36576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006EB9"/>
                </a:solidFill>
                <a:latin typeface="Aptos"/>
              </a:defRPr>
            </a:pPr>
            <a:r>
              <a:t>How it addresses the 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2423160"/>
            <a:ext cx="3566160" cy="36576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006EB9"/>
                </a:solidFill>
                <a:latin typeface="Aptos"/>
              </a:defRPr>
            </a:pPr>
            <a:r>
              <a:t>Innovation and uniqueness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880360"/>
            <a:ext cx="3593592" cy="2331720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6072" y="3008376"/>
            <a:ext cx="3264408" cy="347472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43454"/>
                </a:solidFill>
                <a:latin typeface="Aptos"/>
              </a:defRPr>
            </a:pPr>
            <a:r>
              <a:t>One connected workflow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" y="3474720"/>
            <a:ext cx="3264408" cy="1664207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6384B"/>
                </a:solidFill>
                <a:latin typeface="Aptos"/>
              </a:defRPr>
            </a:pPr>
            <a:r>
              <a:t>• Analyze the selected email.</a:t>
            </a:r>
          </a:p>
          <a:p>
            <a:pPr>
              <a:spcAft>
                <a:spcPts val="700"/>
              </a:spcAft>
              <a:defRPr sz="1600" b="0">
                <a:solidFill>
                  <a:srgbClr val="26384B"/>
                </a:solidFill>
                <a:latin typeface="Aptos"/>
              </a:defRPr>
            </a:pPr>
            <a:r>
              <a:t>• Explain sender, text and link risks.</a:t>
            </a:r>
          </a:p>
          <a:p>
            <a:pPr>
              <a:spcAft>
                <a:spcPts val="700"/>
              </a:spcAft>
              <a:defRPr sz="1600" b="0">
                <a:solidFill>
                  <a:srgbClr val="26384B"/>
                </a:solidFill>
                <a:latin typeface="Aptos"/>
              </a:defRPr>
            </a:pPr>
            <a:r>
              <a:t>• Open the matching forensic report.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2880360"/>
            <a:ext cx="3593592" cy="2331720"/>
          </a:xfrm>
          <a:prstGeom prst="roundRect">
            <a:avLst>
              <a:gd name="adj" fmla="val 12000"/>
            </a:avLst>
          </a:prstGeom>
          <a:solidFill>
            <a:srgbClr val="E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62272" y="3008376"/>
            <a:ext cx="3264408" cy="347472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43454"/>
                </a:solidFill>
                <a:latin typeface="Aptos"/>
              </a:defRPr>
            </a:pPr>
            <a:r>
              <a:t>Evidence behind the alert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2272" y="3474720"/>
            <a:ext cx="3264408" cy="1664207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6384B"/>
                </a:solidFill>
                <a:latin typeface="Aptos"/>
              </a:defRPr>
            </a:pPr>
            <a:r>
              <a:t>• Makes warning signals readable.</a:t>
            </a:r>
          </a:p>
          <a:p>
            <a:pPr>
              <a:spcAft>
                <a:spcPts val="700"/>
              </a:spcAft>
              <a:defRPr sz="1600" b="0">
                <a:solidFill>
                  <a:srgbClr val="26384B"/>
                </a:solidFill>
                <a:latin typeface="Aptos"/>
              </a:defRPr>
            </a:pPr>
            <a:r>
              <a:t>• Reduces fragmented investigation.</a:t>
            </a:r>
          </a:p>
          <a:p>
            <a:pPr>
              <a:spcAft>
                <a:spcPts val="700"/>
              </a:spcAft>
              <a:defRPr sz="1600" b="0">
                <a:solidFill>
                  <a:srgbClr val="26384B"/>
                </a:solidFill>
                <a:latin typeface="Aptos"/>
              </a:defRPr>
            </a:pPr>
            <a:r>
              <a:t>• Preserves context for follow-up.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79" y="2880360"/>
            <a:ext cx="3593592" cy="2331720"/>
          </a:xfrm>
          <a:prstGeom prst="roundRect">
            <a:avLst>
              <a:gd name="adj" fmla="val 12000"/>
            </a:avLst>
          </a:prstGeom>
          <a:solidFill>
            <a:srgbClr val="FFF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48471" y="3008376"/>
            <a:ext cx="3264408" cy="347472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43454"/>
                </a:solidFill>
                <a:latin typeface="Aptos"/>
              </a:defRPr>
            </a:pPr>
            <a:r>
              <a:t>Evidence-aware decisions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1" y="3474720"/>
            <a:ext cx="3264408" cy="1664207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6384B"/>
                </a:solidFill>
                <a:latin typeface="Aptos"/>
              </a:defRPr>
            </a:pPr>
            <a:r>
              <a:t>• Labels missing authentication data.</a:t>
            </a:r>
          </a:p>
          <a:p>
            <a:pPr>
              <a:spcAft>
                <a:spcPts val="700"/>
              </a:spcAft>
              <a:defRPr sz="1600" b="0">
                <a:solidFill>
                  <a:srgbClr val="26384B"/>
                </a:solidFill>
                <a:latin typeface="Aptos"/>
              </a:defRPr>
            </a:pPr>
            <a:r>
              <a:t>• Connects related indicators.</a:t>
            </a:r>
          </a:p>
          <a:p>
            <a:pPr>
              <a:spcAft>
                <a:spcPts val="700"/>
              </a:spcAft>
              <a:defRPr sz="1600" b="0">
                <a:solidFill>
                  <a:srgbClr val="26384B"/>
                </a:solidFill>
                <a:latin typeface="Aptos"/>
              </a:defRPr>
            </a:pPr>
            <a:r>
              <a:t>• Combines risk, trace and custody.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5623560"/>
            <a:ext cx="11338560" cy="438912"/>
          </a:xfrm>
          <a:prstGeom prst="rect">
            <a:avLst/>
          </a:prstGeom>
          <a:solidFill>
            <a:srgbClr val="14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5696712"/>
            <a:ext cx="11018520" cy="32004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Analyze current email  →  Risk + reasons  →  View forensic report  →  Analyst 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500" b="1">
                <a:latin typeface="Aptos"/>
              </a:defRPr>
            </a:pPr>
            <a:r>
              <a:t>TEAM</a:t>
            </a:r>
          </a:p>
          <a:p>
            <a:pPr algn="ctr">
              <a:defRPr sz="1500" b="1">
                <a:latin typeface="Aptos"/>
              </a:defRPr>
            </a:pPr>
            <a:r>
              <a:t>[TBD]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37360" y="438912"/>
            <a:ext cx="7863840" cy="59436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700"/>
              </a:spcAft>
              <a:defRPr sz="2800" b="1">
                <a:solidFill>
                  <a:srgbClr val="143454"/>
                </a:solidFill>
                <a:latin typeface="Aptos"/>
              </a:defRPr>
            </a:pPr>
            <a:r>
              <a:t>TECHNICAL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80160"/>
            <a:ext cx="10972800" cy="36576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006EB9"/>
                </a:solidFill>
                <a:latin typeface="Aptos"/>
              </a:defRPr>
            </a:pPr>
            <a:r>
              <a:t>Methodology and process for implementation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1847088"/>
            <a:ext cx="2084831" cy="1508760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6072" y="1975104"/>
            <a:ext cx="1755648" cy="347472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43454"/>
                </a:solidFill>
                <a:latin typeface="Aptos"/>
              </a:defRPr>
            </a:pPr>
            <a:r>
              <a:t>01  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2441448"/>
            <a:ext cx="1755648" cy="841247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6384B"/>
                </a:solidFill>
                <a:latin typeface="Aptos"/>
              </a:defRPr>
            </a:pPr>
            <a:r>
              <a:rPr dirty="0"/>
              <a:t>Manual Gmail scan</a:t>
            </a:r>
          </a:p>
          <a:p>
            <a:pPr>
              <a:spcAft>
                <a:spcPts val="700"/>
              </a:spcAft>
              <a:defRPr sz="1600" b="0">
                <a:solidFill>
                  <a:srgbClr val="26384B"/>
                </a:solidFill>
                <a:latin typeface="Aptos"/>
              </a:defRPr>
            </a:pPr>
            <a:r>
              <a:rPr dirty="0"/>
              <a:t>or original EML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514600" y="2468880"/>
            <a:ext cx="182880" cy="201168"/>
          </a:xfrm>
          <a:prstGeom prst="rightArrow">
            <a:avLst/>
          </a:prstGeom>
          <a:solidFill>
            <a:srgbClr val="00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715768" y="1847088"/>
            <a:ext cx="2084831" cy="1508760"/>
          </a:xfrm>
          <a:prstGeom prst="roundRect">
            <a:avLst>
              <a:gd name="adj" fmla="val 12000"/>
            </a:avLst>
          </a:prstGeom>
          <a:solidFill>
            <a:srgbClr val="E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80360" y="1975104"/>
            <a:ext cx="1755648" cy="347472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43454"/>
                </a:solidFill>
                <a:latin typeface="Aptos"/>
              </a:defRPr>
            </a:pPr>
            <a:r>
              <a:t>02  ANALYZE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2441448"/>
            <a:ext cx="1755648" cy="841247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6384B"/>
                </a:solidFill>
                <a:latin typeface="Aptos"/>
              </a:defRPr>
            </a:pPr>
            <a:r>
              <a:rPr dirty="0"/>
              <a:t>Text + ML + URLs</a:t>
            </a:r>
          </a:p>
          <a:p>
            <a:pPr>
              <a:spcAft>
                <a:spcPts val="700"/>
              </a:spcAft>
              <a:defRPr sz="1600" b="0">
                <a:solidFill>
                  <a:srgbClr val="26384B"/>
                </a:solidFill>
                <a:latin typeface="Aptos"/>
              </a:defRPr>
            </a:pPr>
            <a:r>
              <a:rPr dirty="0"/>
              <a:t>headers + attachments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818888" y="2468880"/>
            <a:ext cx="182880" cy="201168"/>
          </a:xfrm>
          <a:prstGeom prst="rightArrow">
            <a:avLst/>
          </a:prstGeom>
          <a:solidFill>
            <a:srgbClr val="00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020056" y="1847088"/>
            <a:ext cx="2084831" cy="1508760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84648" y="1975104"/>
            <a:ext cx="1755648" cy="347472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43454"/>
                </a:solidFill>
                <a:latin typeface="Aptos"/>
              </a:defRPr>
            </a:pPr>
            <a:r>
              <a:t>03  EXPLAIN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84648" y="2441448"/>
            <a:ext cx="1755648" cy="841247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6384B"/>
                </a:solidFill>
                <a:latin typeface="Aptos"/>
              </a:defRPr>
            </a:pPr>
            <a:r>
              <a:t>Risk + findings</a:t>
            </a:r>
          </a:p>
          <a:p>
            <a:pPr>
              <a:spcAft>
                <a:spcPts val="700"/>
              </a:spcAft>
              <a:defRPr sz="1600" b="0">
                <a:solidFill>
                  <a:srgbClr val="26384B"/>
                </a:solidFill>
                <a:latin typeface="Aptos"/>
              </a:defRPr>
            </a:pPr>
            <a:r>
              <a:t>confidence + limits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123176" y="2468880"/>
            <a:ext cx="182880" cy="201168"/>
          </a:xfrm>
          <a:prstGeom prst="rightArrow">
            <a:avLst/>
          </a:prstGeom>
          <a:solidFill>
            <a:srgbClr val="00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324344" y="1847088"/>
            <a:ext cx="2084831" cy="1508760"/>
          </a:xfrm>
          <a:prstGeom prst="roundRect">
            <a:avLst>
              <a:gd name="adj" fmla="val 12000"/>
            </a:avLst>
          </a:prstGeom>
          <a:solidFill>
            <a:srgbClr val="E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88936" y="1975104"/>
            <a:ext cx="1755648" cy="347472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43454"/>
                </a:solidFill>
                <a:latin typeface="Aptos"/>
              </a:defRPr>
            </a:pPr>
            <a:r>
              <a:t>04  TRACE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2441448"/>
            <a:ext cx="1755648" cy="841247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6384B"/>
                </a:solidFill>
                <a:latin typeface="Aptos"/>
              </a:defRPr>
            </a:pPr>
            <a:r>
              <a:t>Relay / IP context</a:t>
            </a:r>
          </a:p>
          <a:p>
            <a:pPr>
              <a:spcAft>
                <a:spcPts val="700"/>
              </a:spcAft>
              <a:defRPr sz="1600" b="0">
                <a:solidFill>
                  <a:srgbClr val="26384B"/>
                </a:solidFill>
                <a:latin typeface="Aptos"/>
              </a:defRPr>
            </a:pPr>
            <a:r>
              <a:t>related indicators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427463" y="2468880"/>
            <a:ext cx="182880" cy="201168"/>
          </a:xfrm>
          <a:prstGeom prst="rightArrow">
            <a:avLst/>
          </a:prstGeom>
          <a:solidFill>
            <a:srgbClr val="00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628632" y="1847088"/>
            <a:ext cx="2084831" cy="1508760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793224" y="1975104"/>
            <a:ext cx="1755648" cy="347472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43454"/>
                </a:solidFill>
                <a:latin typeface="Aptos"/>
              </a:defRPr>
            </a:pPr>
            <a:r>
              <a:t>05  PRESERVE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93224" y="2441448"/>
            <a:ext cx="1755648" cy="841247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6384B"/>
                </a:solidFill>
                <a:latin typeface="Aptos"/>
              </a:defRPr>
            </a:pPr>
            <a:r>
              <a:t>Case + SHA-256</a:t>
            </a:r>
          </a:p>
          <a:p>
            <a:pPr>
              <a:spcAft>
                <a:spcPts val="700"/>
              </a:spcAft>
              <a:defRPr sz="1600" b="0">
                <a:solidFill>
                  <a:srgbClr val="26384B"/>
                </a:solidFill>
                <a:latin typeface="Aptos"/>
              </a:defRPr>
            </a:pPr>
            <a:r>
              <a:t>report + custody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" y="3602736"/>
            <a:ext cx="11338560" cy="594360"/>
          </a:xfrm>
          <a:prstGeom prst="roundRect">
            <a:avLst>
              <a:gd name="adj" fmla="val 12000"/>
            </a:avLst>
          </a:prstGeom>
          <a:solidFill>
            <a:srgbClr val="FFF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76072" y="3749039"/>
            <a:ext cx="10972800" cy="36576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3454"/>
                </a:solidFill>
                <a:latin typeface="Aptos"/>
              </a:defRPr>
            </a:pPr>
            <a:r>
              <a:t>Evidence gate: original bytes enable signature checks; reconstructed Gmail content is labelled incomplete.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4480560"/>
            <a:ext cx="10972800" cy="36576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006EB9"/>
                </a:solidFill>
                <a:latin typeface="Aptos"/>
              </a:defRPr>
            </a:pPr>
            <a:r>
              <a:t>Technologies to be used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4937760"/>
            <a:ext cx="2697480" cy="1133856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76072" y="5065776"/>
            <a:ext cx="2368296" cy="347472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43454"/>
                </a:solidFill>
                <a:latin typeface="Aptos"/>
              </a:defRPr>
            </a:pPr>
            <a:r>
              <a:t>INTERFACE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" y="5440680"/>
            <a:ext cx="2368296" cy="557784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6384B"/>
                </a:solidFill>
                <a:latin typeface="Aptos"/>
              </a:defRPr>
            </a:pPr>
            <a:r>
              <a:t>JavaScript MV3</a:t>
            </a:r>
          </a:p>
          <a:p>
            <a:pPr>
              <a:spcAft>
                <a:spcPts val="700"/>
              </a:spcAft>
              <a:defRPr sz="1500" b="0">
                <a:solidFill>
                  <a:srgbClr val="26384B"/>
                </a:solidFill>
                <a:latin typeface="Aptos"/>
              </a:defRPr>
            </a:pPr>
            <a:r>
              <a:t>Streamlit dashboard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91840" y="4937760"/>
            <a:ext cx="2697480" cy="1133856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56432" y="5065776"/>
            <a:ext cx="2368296" cy="347472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43454"/>
                </a:solidFill>
                <a:latin typeface="Aptos"/>
              </a:defRPr>
            </a:pPr>
            <a:r>
              <a:t>API + INTELLIGENCE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56432" y="5440680"/>
            <a:ext cx="2368296" cy="557784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6384B"/>
                </a:solidFill>
                <a:latin typeface="Aptos"/>
              </a:defRPr>
            </a:pPr>
            <a:r>
              <a:t>Python · FastAPI</a:t>
            </a:r>
          </a:p>
          <a:p>
            <a:pPr>
              <a:spcAft>
                <a:spcPts val="700"/>
              </a:spcAft>
              <a:defRPr sz="1500" b="0">
                <a:solidFill>
                  <a:srgbClr val="26384B"/>
                </a:solidFill>
                <a:latin typeface="Aptos"/>
              </a:defRPr>
            </a:pPr>
            <a:r>
              <a:t>scikit-learn · DNS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72200" y="4937760"/>
            <a:ext cx="2697480" cy="1133856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36792" y="5065776"/>
            <a:ext cx="2368296" cy="347472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43454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36792" y="5440680"/>
            <a:ext cx="2368296" cy="557784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6384B"/>
                </a:solidFill>
                <a:latin typeface="Aptos"/>
              </a:defRPr>
            </a:pPr>
            <a:r>
              <a:t>SQLite · SHA-256</a:t>
            </a:r>
          </a:p>
          <a:p>
            <a:pPr>
              <a:spcAft>
                <a:spcPts val="700"/>
              </a:spcAft>
              <a:defRPr sz="1500" b="0">
                <a:solidFill>
                  <a:srgbClr val="26384B"/>
                </a:solidFill>
                <a:latin typeface="Aptos"/>
              </a:defRPr>
            </a:pPr>
            <a:r>
              <a:t>AES-GCM encryption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52559" y="4937760"/>
            <a:ext cx="2697480" cy="1133856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217151" y="5065776"/>
            <a:ext cx="2368296" cy="347472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43454"/>
                </a:solidFill>
                <a:latin typeface="Aptos"/>
              </a:defRPr>
            </a:pPr>
            <a:r>
              <a:t>DEPLOYMENT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7151" y="5440680"/>
            <a:ext cx="2368296" cy="557784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6384B"/>
                </a:solidFill>
                <a:latin typeface="Aptos"/>
              </a:defRPr>
            </a:pPr>
            <a:r>
              <a:t>Render API + dashboard</a:t>
            </a:r>
          </a:p>
          <a:p>
            <a:pPr>
              <a:spcAft>
                <a:spcPts val="700"/>
              </a:spcAft>
              <a:defRPr sz="1500" b="0">
                <a:solidFill>
                  <a:srgbClr val="26384B"/>
                </a:solidFill>
                <a:latin typeface="Aptos"/>
              </a:defRPr>
            </a:pPr>
            <a:r>
              <a:t>HTTPS · scoped API keys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500" b="1">
                <a:latin typeface="Aptos"/>
              </a:defRPr>
            </a:pPr>
            <a:r>
              <a:t>TEAM</a:t>
            </a:r>
          </a:p>
          <a:p>
            <a:pPr algn="ctr">
              <a:defRPr sz="1500" b="1">
                <a:latin typeface="Aptos"/>
              </a:defRPr>
            </a:pPr>
            <a:r>
              <a:t>[TBD]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37360" y="438912"/>
            <a:ext cx="7863840" cy="59436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700"/>
              </a:spcAft>
              <a:defRPr sz="2800" b="1">
                <a:solidFill>
                  <a:srgbClr val="143454"/>
                </a:solidFill>
                <a:latin typeface="Aptos"/>
              </a:defRPr>
            </a:pPr>
            <a:r>
              <a:t>FEASIBILITY AND VIABILITY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80160"/>
            <a:ext cx="5120640" cy="36576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006EB9"/>
                </a:solidFill>
                <a:latin typeface="Aptos"/>
              </a:defRPr>
            </a:pPr>
            <a:r>
              <a:t>Analysis of the feasibility of the idea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1801368"/>
            <a:ext cx="5074920" cy="1298448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6072" y="1929384"/>
            <a:ext cx="4745736" cy="347472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43454"/>
                </a:solidFill>
                <a:latin typeface="Aptos"/>
              </a:defRPr>
            </a:pPr>
            <a:r>
              <a:t>Technical feasibility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2304288"/>
            <a:ext cx="4745736" cy="722375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6384B"/>
                </a:solidFill>
                <a:latin typeface="Aptos"/>
              </a:defRPr>
            </a:pPr>
            <a:r>
              <a:t>Working Gmail extension, FastAPI analysis,</a:t>
            </a:r>
          </a:p>
          <a:p>
            <a:pPr>
              <a:spcAft>
                <a:spcPts val="700"/>
              </a:spcAft>
              <a:defRPr sz="1500" b="0">
                <a:solidFill>
                  <a:srgbClr val="26384B"/>
                </a:solidFill>
                <a:latin typeface="Aptos"/>
              </a:defRPr>
            </a:pPr>
            <a:r>
              <a:t>Streamlit investigations and report generation.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291840"/>
            <a:ext cx="5074920" cy="1298448"/>
          </a:xfrm>
          <a:prstGeom prst="roundRect">
            <a:avLst>
              <a:gd name="adj" fmla="val 12000"/>
            </a:avLst>
          </a:prstGeom>
          <a:solidFill>
            <a:srgbClr val="E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6072" y="3419856"/>
            <a:ext cx="4745736" cy="347472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43454"/>
                </a:solidFill>
                <a:latin typeface="Aptos"/>
              </a:defRPr>
            </a:pPr>
            <a:r>
              <a:t>Operational and financial viability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" y="3794760"/>
            <a:ext cx="4745736" cy="722375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6384B"/>
                </a:solidFill>
                <a:latin typeface="Aptos"/>
              </a:defRPr>
            </a:pPr>
            <a:r>
              <a:t>Pilot within one institution; open-source stack.</a:t>
            </a:r>
          </a:p>
          <a:p>
            <a:pPr>
              <a:spcAft>
                <a:spcPts val="700"/>
              </a:spcAft>
              <a:defRPr sz="1500" b="0">
                <a:solidFill>
                  <a:srgbClr val="26384B"/>
                </a:solidFill>
                <a:latin typeface="Aptos"/>
              </a:defRPr>
            </a:pPr>
            <a:r>
              <a:t>Hosting, storage and intelligence have running costs.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4800600"/>
            <a:ext cx="5074920" cy="1234440"/>
          </a:xfrm>
          <a:prstGeom prst="roundRect">
            <a:avLst>
              <a:gd name="adj" fmla="val 12000"/>
            </a:avLst>
          </a:prstGeom>
          <a:solidFill>
            <a:srgbClr val="14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" y="4956048"/>
            <a:ext cx="4663440" cy="38404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149 automated tests passed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5513832"/>
            <a:ext cx="4663440" cy="32004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Local regression evidence; not detection accuracy.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1280160"/>
            <a:ext cx="5943600" cy="36576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006EB9"/>
                </a:solidFill>
                <a:latin typeface="Aptos"/>
              </a:defRPr>
            </a:pPr>
            <a:r>
              <a:t>Potential challenges and risks → Strategies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60" y="1801368"/>
            <a:ext cx="5879592" cy="932688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35040" y="1892807"/>
            <a:ext cx="5486400" cy="283464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3454"/>
                </a:solidFill>
                <a:latin typeface="Aptos"/>
              </a:defRPr>
            </a:pPr>
            <a:r>
              <a:t>Incomplete message headers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2249424"/>
            <a:ext cx="5486400" cy="438912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6384B"/>
                </a:solidFill>
                <a:latin typeface="Aptos"/>
              </a:defRPr>
            </a:pPr>
            <a:r>
              <a:t>Fetch original MIME / upload EML; label unavailable checks.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52160" y="2880360"/>
            <a:ext cx="5879592" cy="932688"/>
          </a:xfrm>
          <a:prstGeom prst="roundRect">
            <a:avLst>
              <a:gd name="adj" fmla="val 12000"/>
            </a:avLst>
          </a:prstGeom>
          <a:solidFill>
            <a:srgbClr val="E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35040" y="2971800"/>
            <a:ext cx="5486400" cy="283464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3454"/>
                </a:solidFill>
                <a:latin typeface="Aptos"/>
              </a:defRPr>
            </a:pPr>
            <a:r>
              <a:t>False positives and model drift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3328415"/>
            <a:ext cx="5486400" cy="438912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6384B"/>
                </a:solidFill>
                <a:latin typeface="Aptos"/>
              </a:defRPr>
            </a:pPr>
            <a:r>
              <a:t>Analyst review; evaluate on unseen data before rollout.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52160" y="3959352"/>
            <a:ext cx="5879592" cy="932688"/>
          </a:xfrm>
          <a:prstGeom prst="roundRect">
            <a:avLst>
              <a:gd name="adj" fmla="val 12000"/>
            </a:avLst>
          </a:prstGeom>
          <a:solidFill>
            <a:srgbClr val="FFF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35040" y="4050791"/>
            <a:ext cx="5486400" cy="283464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3454"/>
                </a:solidFill>
                <a:latin typeface="Aptos"/>
              </a:defRPr>
            </a:pPr>
            <a:r>
              <a:t>Privacy and online access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4407408"/>
            <a:ext cx="5486400" cy="438912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6384B"/>
                </a:solidFill>
                <a:latin typeface="Aptos"/>
              </a:defRPr>
            </a:pPr>
            <a:r>
              <a:t>Scoped identities, encryption, retention and dashboard login.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52160" y="5038344"/>
            <a:ext cx="5879592" cy="932688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35040" y="5129783"/>
            <a:ext cx="5486400" cy="283464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3454"/>
                </a:solidFill>
                <a:latin typeface="Aptos"/>
              </a:defRPr>
            </a:pPr>
            <a:r>
              <a:t>Provider outages and persistence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5486400"/>
            <a:ext cx="5486400" cy="438912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6384B"/>
                </a:solidFill>
                <a:latin typeface="Aptos"/>
              </a:defRPr>
            </a:pPr>
            <a:r>
              <a:t>Show unavailable signals; durable storage and backups.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500" b="1">
                <a:latin typeface="Aptos"/>
              </a:defRPr>
            </a:pPr>
            <a:r>
              <a:t>TEAM</a:t>
            </a:r>
          </a:p>
          <a:p>
            <a:pPr algn="ctr">
              <a:defRPr sz="1500" b="1">
                <a:latin typeface="Aptos"/>
              </a:defRPr>
            </a:pPr>
            <a:r>
              <a:t>[TBD]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37360" y="438912"/>
            <a:ext cx="7863840" cy="59436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700"/>
              </a:spcAft>
              <a:defRPr sz="2800" b="1">
                <a:solidFill>
                  <a:srgbClr val="143454"/>
                </a:solidFill>
                <a:latin typeface="Aptos"/>
              </a:defRPr>
            </a:pPr>
            <a:r>
              <a:t>IMPACT AND BENEFITS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80160"/>
            <a:ext cx="10972800" cy="36576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006EB9"/>
                </a:solidFill>
                <a:latin typeface="Aptos"/>
              </a:defRPr>
            </a:pPr>
            <a:r>
              <a:t>Potential impact on the target audience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1828800"/>
            <a:ext cx="3611880" cy="1508760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6072" y="1956816"/>
            <a:ext cx="3282696" cy="347472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43454"/>
                </a:solidFill>
                <a:latin typeface="Aptos"/>
              </a:defRPr>
            </a:pPr>
            <a:r>
              <a:t>EMAIL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2423160"/>
            <a:ext cx="3282696" cy="841247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6384B"/>
                </a:solidFill>
                <a:latin typeface="Aptos"/>
              </a:defRPr>
            </a:pPr>
            <a:r>
              <a:t>Understand why a message is risky</a:t>
            </a:r>
          </a:p>
          <a:p>
            <a:pPr>
              <a:spcAft>
                <a:spcPts val="700"/>
              </a:spcAft>
              <a:defRPr sz="1600" b="0">
                <a:solidFill>
                  <a:srgbClr val="26384B"/>
                </a:solidFill>
                <a:latin typeface="Aptos"/>
              </a:defRPr>
            </a:pPr>
            <a:r>
              <a:t>and open its supporting report.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1828800"/>
            <a:ext cx="3611880" cy="1508760"/>
          </a:xfrm>
          <a:prstGeom prst="roundRect">
            <a:avLst>
              <a:gd name="adj" fmla="val 12000"/>
            </a:avLst>
          </a:prstGeom>
          <a:solidFill>
            <a:srgbClr val="E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16552" y="1956816"/>
            <a:ext cx="3282696" cy="347472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43454"/>
                </a:solidFill>
                <a:latin typeface="Aptos"/>
              </a:defRPr>
            </a:pPr>
            <a:r>
              <a:t>SOC / IT TEAMS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2423160"/>
            <a:ext cx="3282696" cy="841247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6384B"/>
                </a:solidFill>
                <a:latin typeface="Aptos"/>
              </a:defRPr>
            </a:pPr>
            <a:r>
              <a:t>Triage findings in one place;</a:t>
            </a:r>
          </a:p>
          <a:p>
            <a:pPr>
              <a:spcAft>
                <a:spcPts val="700"/>
              </a:spcAft>
              <a:defRPr sz="1600" b="0">
                <a:solidFill>
                  <a:srgbClr val="26384B"/>
                </a:solidFill>
                <a:latin typeface="Aptos"/>
              </a:defRPr>
            </a:pPr>
            <a:r>
              <a:t>correlate recurring indicators.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1828800"/>
            <a:ext cx="3611880" cy="1508760"/>
          </a:xfrm>
          <a:prstGeom prst="roundRect">
            <a:avLst>
              <a:gd name="adj" fmla="val 12000"/>
            </a:avLst>
          </a:prstGeom>
          <a:solidFill>
            <a:srgbClr val="FFF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57031" y="1956816"/>
            <a:ext cx="3282696" cy="347472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43454"/>
                </a:solidFill>
                <a:latin typeface="Aptos"/>
              </a:defRPr>
            </a:pPr>
            <a:r>
              <a:t>INSTITUTIONS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2423160"/>
            <a:ext cx="3282696" cy="841247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6384B"/>
                </a:solidFill>
                <a:latin typeface="Aptos"/>
              </a:defRPr>
            </a:pPr>
            <a:r>
              <a:t>Build consistent incident records</a:t>
            </a:r>
          </a:p>
          <a:p>
            <a:pPr>
              <a:spcAft>
                <a:spcPts val="700"/>
              </a:spcAft>
              <a:defRPr sz="1600" b="0">
                <a:solidFill>
                  <a:srgbClr val="26384B"/>
                </a:solidFill>
                <a:latin typeface="Aptos"/>
              </a:defRPr>
            </a:pPr>
            <a:r>
              <a:t>for review and response.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611880"/>
            <a:ext cx="10972800" cy="36576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006EB9"/>
                </a:solidFill>
                <a:latin typeface="Aptos"/>
              </a:defRPr>
            </a:pPr>
            <a:r>
              <a:t>Benefits of the solution (social, economic, environmental, etc.)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4114800"/>
            <a:ext cx="3611880" cy="1280160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6072" y="4242816"/>
            <a:ext cx="3282696" cy="347472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43454"/>
                </a:solidFill>
                <a:latin typeface="Aptos"/>
              </a:defRPr>
            </a:pPr>
            <a:r>
              <a:t>SOCIAL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" y="4617720"/>
            <a:ext cx="3282696" cy="704087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6384B"/>
                </a:solidFill>
                <a:latin typeface="Aptos"/>
              </a:defRPr>
            </a:pPr>
            <a:r>
              <a:t>Clear warnings support phishing</a:t>
            </a:r>
          </a:p>
          <a:p>
            <a:pPr>
              <a:spcAft>
                <a:spcPts val="700"/>
              </a:spcAft>
              <a:defRPr sz="1500" b="0">
                <a:solidFill>
                  <a:srgbClr val="26384B"/>
                </a:solidFill>
                <a:latin typeface="Aptos"/>
              </a:defRPr>
            </a:pPr>
            <a:r>
              <a:t>awareness and informed decisions.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1960" y="4114800"/>
            <a:ext cx="3611880" cy="1280160"/>
          </a:xfrm>
          <a:prstGeom prst="roundRect">
            <a:avLst>
              <a:gd name="adj" fmla="val 12000"/>
            </a:avLst>
          </a:prstGeom>
          <a:solidFill>
            <a:srgbClr val="E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16552" y="4242816"/>
            <a:ext cx="3282696" cy="347472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43454"/>
                </a:solidFill>
                <a:latin typeface="Aptos"/>
              </a:defRPr>
            </a:pPr>
            <a:r>
              <a:t>ECONOMIC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6552" y="4617720"/>
            <a:ext cx="3282696" cy="704087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6384B"/>
                </a:solidFill>
                <a:latin typeface="Aptos"/>
              </a:defRPr>
            </a:pPr>
            <a:r>
              <a:t>Aim to reduce review effort and</a:t>
            </a:r>
          </a:p>
          <a:p>
            <a:pPr>
              <a:spcAft>
                <a:spcPts val="700"/>
              </a:spcAft>
              <a:defRPr sz="1500" b="0">
                <a:solidFill>
                  <a:srgbClr val="26384B"/>
                </a:solidFill>
                <a:latin typeface="Aptos"/>
              </a:defRPr>
            </a:pPr>
            <a:r>
              <a:t>fraud exposure; validate in pilots.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2440" y="4114800"/>
            <a:ext cx="3611880" cy="1280160"/>
          </a:xfrm>
          <a:prstGeom prst="roundRect">
            <a:avLst>
              <a:gd name="adj" fmla="val 12000"/>
            </a:avLst>
          </a:prstGeom>
          <a:solidFill>
            <a:srgbClr val="FFF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57031" y="4242816"/>
            <a:ext cx="3282696" cy="347472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43454"/>
                </a:solidFill>
                <a:latin typeface="Aptos"/>
              </a:defRPr>
            </a:pPr>
            <a:r>
              <a:t>RESOURCE USE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7031" y="4617720"/>
            <a:ext cx="3282696" cy="704087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6384B"/>
                </a:solidFill>
                <a:latin typeface="Aptos"/>
              </a:defRPr>
            </a:pPr>
            <a:r>
              <a:t>Digital reports reduce paper use;</a:t>
            </a:r>
          </a:p>
          <a:p>
            <a:pPr>
              <a:spcAft>
                <a:spcPts val="700"/>
              </a:spcAft>
              <a:defRPr sz="1500" b="0">
                <a:solidFill>
                  <a:srgbClr val="26384B"/>
                </a:solidFill>
                <a:latin typeface="Aptos"/>
              </a:defRPr>
            </a:pPr>
            <a:r>
              <a:t>manual scans limit unnecessary work.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5650992"/>
            <a:ext cx="11338560" cy="438912"/>
          </a:xfrm>
          <a:prstGeom prst="rect">
            <a:avLst/>
          </a:prstGeom>
          <a:solidFill>
            <a:srgbClr val="14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66928" y="5724144"/>
            <a:ext cx="11018520" cy="32004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Pilot success measures: false-positive rate  •  phishing recall  •  review time  •  report completeness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500" b="1">
                <a:latin typeface="Aptos"/>
              </a:defRPr>
            </a:pPr>
            <a:r>
              <a:t>TEAM</a:t>
            </a:r>
          </a:p>
          <a:p>
            <a:pPr algn="ctr">
              <a:defRPr sz="1500" b="1">
                <a:latin typeface="Aptos"/>
              </a:defRPr>
            </a:pPr>
            <a:r>
              <a:t>[TBD]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37360" y="438912"/>
            <a:ext cx="7863840" cy="59436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700"/>
              </a:spcAft>
              <a:defRPr sz="2800" b="1">
                <a:solidFill>
                  <a:srgbClr val="143454"/>
                </a:solidFill>
                <a:latin typeface="Aptos"/>
              </a:defRPr>
            </a:pPr>
            <a:r>
              <a:t>RESEARCH AND REFERENCES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80160"/>
            <a:ext cx="10972800" cy="36576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006EB9"/>
                </a:solidFill>
                <a:latin typeface="Aptos"/>
              </a:defRPr>
            </a:pPr>
            <a:r>
              <a:t>Details / Links of the reference and research 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1828800"/>
            <a:ext cx="5532120" cy="1344168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1938528"/>
            <a:ext cx="5212080" cy="29260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3454"/>
                </a:solidFill>
                <a:latin typeface="Aptos"/>
              </a:defRPr>
            </a:pPr>
            <a:r>
              <a:t>01  Email authentication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313432"/>
            <a:ext cx="5212080" cy="29260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6384B"/>
                </a:solidFill>
                <a:latin typeface="Aptos"/>
              </a:defRPr>
            </a:pPr>
            <a:r>
              <a:t>Original-byte integrity and signing-domain checks.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752344"/>
            <a:ext cx="5212080" cy="29260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06EB9"/>
                </a:solidFill>
                <a:latin typeface="Aptos"/>
              </a:defRPr>
            </a:pPr>
            <a:r>
              <a:rPr>
                <a:hlinkClick r:id="rId4"/>
              </a:rPr>
              <a:t>RFC 6376 — DKIM signatures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828800"/>
            <a:ext cx="5532120" cy="1344168"/>
          </a:xfrm>
          <a:prstGeom prst="roundRect">
            <a:avLst>
              <a:gd name="adj" fmla="val 12000"/>
            </a:avLst>
          </a:prstGeom>
          <a:solidFill>
            <a:srgbClr val="E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73368" y="1938528"/>
            <a:ext cx="5212080" cy="29260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3454"/>
                </a:solidFill>
                <a:latin typeface="Aptos"/>
              </a:defRPr>
            </a:pPr>
            <a:r>
              <a:t>02  Sender authorization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2313432"/>
            <a:ext cx="5212080" cy="29260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6384B"/>
                </a:solidFill>
                <a:latin typeface="Aptos"/>
              </a:defRPr>
            </a:pPr>
            <a:r>
              <a:t>SPF needs trusted SMTP connection context.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2752344"/>
            <a:ext cx="5212080" cy="29260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06EB9"/>
                </a:solidFill>
                <a:latin typeface="Aptos"/>
              </a:defRPr>
            </a:pPr>
            <a:r>
              <a:rPr>
                <a:hlinkClick r:id="rId5"/>
              </a:rPr>
              <a:t>RFC 7208 — Sender Policy Framework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3364991"/>
            <a:ext cx="5532120" cy="1344168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3474720"/>
            <a:ext cx="5212080" cy="29260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3454"/>
                </a:solidFill>
                <a:latin typeface="Aptos"/>
              </a:defRPr>
            </a:pPr>
            <a:r>
              <a:t>03  Domain alignment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849624"/>
            <a:ext cx="5212080" cy="29260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6384B"/>
                </a:solidFill>
                <a:latin typeface="Aptos"/>
              </a:defRPr>
            </a:pPr>
            <a:r>
              <a:t>Connect authentication evidence to the From domain.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288536"/>
            <a:ext cx="5212080" cy="29260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06EB9"/>
                </a:solidFill>
                <a:latin typeface="Aptos"/>
              </a:defRPr>
            </a:pPr>
            <a:r>
              <a:rPr>
                <a:hlinkClick r:id="rId6"/>
              </a:rPr>
              <a:t>RFC 7489 — DMARC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364991"/>
            <a:ext cx="5532120" cy="1344168"/>
          </a:xfrm>
          <a:prstGeom prst="roundRect">
            <a:avLst>
              <a:gd name="adj" fmla="val 12000"/>
            </a:avLst>
          </a:prstGeom>
          <a:solidFill>
            <a:srgbClr val="E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73368" y="3474720"/>
            <a:ext cx="5212080" cy="29260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3454"/>
                </a:solidFill>
                <a:latin typeface="Aptos"/>
              </a:defRPr>
            </a:pPr>
            <a:r>
              <a:t>04  Forensic methodology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3849624"/>
            <a:ext cx="5212080" cy="29260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6384B"/>
                </a:solidFill>
                <a:latin typeface="Aptos"/>
              </a:defRPr>
            </a:pPr>
            <a:r>
              <a:t>Collection, examination, analysis and reporting.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4288536"/>
            <a:ext cx="5212080" cy="29260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06EB9"/>
                </a:solidFill>
                <a:latin typeface="Aptos"/>
              </a:defRPr>
            </a:pPr>
            <a:r>
              <a:rPr>
                <a:hlinkClick r:id="rId7"/>
              </a:rPr>
              <a:t>NIST SP 800-86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5102352"/>
            <a:ext cx="11338560" cy="941832"/>
          </a:xfrm>
          <a:prstGeom prst="roundRect">
            <a:avLst>
              <a:gd name="adj" fmla="val 12000"/>
            </a:avLst>
          </a:prstGeom>
          <a:solidFill>
            <a:srgbClr val="FFF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4360" y="5212080"/>
            <a:ext cx="10881360" cy="301752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43454"/>
                </a:solidFill>
                <a:latin typeface="Aptos"/>
              </a:defRPr>
            </a:pPr>
            <a:r>
              <a:t>Prototype and validation 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596128"/>
            <a:ext cx="10881360" cy="29260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06EB9"/>
                </a:solidFill>
                <a:latin typeface="Aptos"/>
              </a:defRPr>
            </a:pPr>
            <a:r>
              <a:rPr>
                <a:hlinkClick r:id="rId8"/>
              </a:rPr>
              <a:t>NETRA-MAIL source repository • implementation, tests and deployment setup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7493</TotalTime>
  <Words>791</Words>
  <Application>Microsoft Office PowerPoint</Application>
  <PresentationFormat>Widescreen</PresentationFormat>
  <Paragraphs>152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ＭＳ Ｐゴシック</vt:lpstr>
      <vt:lpstr>Arial</vt:lpstr>
      <vt:lpstr>Calibri</vt:lpstr>
      <vt:lpstr>TradeGothic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nitheen j</cp:lastModifiedBy>
  <cp:revision>148</cp:revision>
  <dcterms:created xsi:type="dcterms:W3CDTF">2013-12-12T18:46:50Z</dcterms:created>
  <dcterms:modified xsi:type="dcterms:W3CDTF">2026-09-15T13:58:54Z</dcterms:modified>
  <cp:category/>
</cp:coreProperties>
</file>